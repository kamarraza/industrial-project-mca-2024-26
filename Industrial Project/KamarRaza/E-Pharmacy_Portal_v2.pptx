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6583680" y="365760"/>
            <a:ext cx="3474720" cy="3474720"/>
          </a:xfrm>
          <a:prstGeom prst="ellipse">
            <a:avLst/>
          </a:prstGeom>
          <a:solidFill>
            <a:srgbClr val="FFFFFF">
              <a:alpha val="8000"/>
            </a:srgbClr>
          </a:solidFill>
          <a:ln w="25400">
            <a:solidFill>
              <a:srgbClr val="028090"/>
            </a:solidFill>
            <a:prstDash val="solid"/>
          </a:ln>
        </p:spPr>
      </p:sp>
      <p:sp>
        <p:nvSpPr>
          <p:cNvPr id="4" name="Shape 2"/>
          <p:cNvSpPr/>
          <p:nvPr/>
        </p:nvSpPr>
        <p:spPr>
          <a:xfrm>
            <a:off x="7132320" y="914400"/>
            <a:ext cx="2377440" cy="2377440"/>
          </a:xfrm>
          <a:prstGeom prst="ellipse">
            <a:avLst/>
          </a:prstGeom>
          <a:solidFill>
            <a:srgbClr val="FFFFFF">
              <a:alpha val="12000"/>
            </a:srgbClr>
          </a:solidFill>
          <a:ln w="12700">
            <a:solidFill>
              <a:srgbClr val="02C39A"/>
            </a:solidFill>
            <a:prstDash val="solid"/>
          </a:ln>
        </p:spPr>
      </p:sp>
      <p:sp>
        <p:nvSpPr>
          <p:cNvPr id="5" name="Text 3"/>
          <p:cNvSpPr/>
          <p:nvPr/>
        </p:nvSpPr>
        <p:spPr>
          <a:xfrm>
            <a:off x="548640" y="1097280"/>
            <a:ext cx="6400800" cy="1097280"/>
          </a:xfrm>
          <a:prstGeom prst="rect">
            <a:avLst/>
          </a:prstGeom>
          <a:noFill/>
          <a:ln/>
        </p:spPr>
        <p:txBody>
          <a:bodyPr wrap="square" lIns="0" tIns="0" rIns="0" bIns="0"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E-Pharmacy Portal</a:t>
            </a:r>
            <a:endParaRPr lang="en-US" sz="4200" dirty="0"/>
          </a:p>
        </p:txBody>
      </p:sp>
      <p:sp>
        <p:nvSpPr>
          <p:cNvPr id="6" name="Text 4"/>
          <p:cNvSpPr/>
          <p:nvPr/>
        </p:nvSpPr>
        <p:spPr>
          <a:xfrm>
            <a:off x="548640" y="2331720"/>
            <a:ext cx="6583680" cy="548640"/>
          </a:xfrm>
          <a:prstGeom prst="rect">
            <a:avLst/>
          </a:prstGeom>
          <a:noFill/>
          <a:ln/>
        </p:spPr>
        <p:txBody>
          <a:bodyPr wrap="square" lIns="0" tIns="0" rIns="0" bIns="0" rtlCol="0" anchor="ctr"/>
          <a:lstStyle/>
          <a:p>
            <a:pPr algn="l" indent="0" marL="0">
              <a:buNone/>
            </a:pPr>
            <a:r>
              <a:rPr lang="en-US" sz="1700" dirty="0">
                <a:solidFill>
                  <a:srgbClr val="02C39A"/>
                </a:solidFill>
                <a:latin typeface="Calibri" pitchFamily="34" charset="0"/>
                <a:ea typeface="Calibri" pitchFamily="34" charset="-122"/>
                <a:cs typeface="Calibri" pitchFamily="34" charset="-120"/>
              </a:rPr>
              <a:t>An Online Medicine Ordering &amp; Management System</a:t>
            </a:r>
            <a:endParaRPr lang="en-US" sz="1700" dirty="0"/>
          </a:p>
        </p:txBody>
      </p:sp>
      <p:sp>
        <p:nvSpPr>
          <p:cNvPr id="7" name="Shape 5"/>
          <p:cNvSpPr/>
          <p:nvPr/>
        </p:nvSpPr>
        <p:spPr>
          <a:xfrm>
            <a:off x="548640" y="3017520"/>
            <a:ext cx="1828800" cy="54864"/>
          </a:xfrm>
          <a:prstGeom prst="rect">
            <a:avLst/>
          </a:prstGeom>
          <a:solidFill>
            <a:srgbClr val="02C39A"/>
          </a:solidFill>
          <a:ln w="12700">
            <a:solidFill>
              <a:srgbClr val="02C39A"/>
            </a:solidFill>
            <a:prstDash val="solid"/>
          </a:ln>
        </p:spPr>
      </p:sp>
      <p:sp>
        <p:nvSpPr>
          <p:cNvPr id="8" name="Text 6"/>
          <p:cNvSpPr/>
          <p:nvPr/>
        </p:nvSpPr>
        <p:spPr>
          <a:xfrm>
            <a:off x="548640" y="3200400"/>
            <a:ext cx="8046720" cy="1463040"/>
          </a:xfrm>
          <a:prstGeom prst="rect">
            <a:avLst/>
          </a:prstGeom>
          <a:noFill/>
          <a:ln/>
        </p:spPr>
        <p:txBody>
          <a:bodyPr wrap="square" rtlCol="0" anchor="ctr"/>
          <a:lstStyle/>
          <a:p>
            <a:pPr algn="l" indent="0" marL="0">
              <a:buNone/>
            </a:pPr>
            <a:r>
              <a:rPr lang="en-US" sz="1300" b="1" dirty="0">
                <a:solidFill>
                  <a:srgbClr val="02C39A"/>
                </a:solidFill>
                <a:latin typeface="Calibri" pitchFamily="34" charset="0"/>
                <a:ea typeface="Calibri" pitchFamily="34" charset="-122"/>
                <a:cs typeface="Calibri" pitchFamily="34" charset="-120"/>
              </a:rPr>
              <a:t>Submitted By:  </a:t>
            </a:r>
            <a:pPr algn="l" indent="0" marL="0">
              <a:buNone/>
            </a:pPr>
            <a:r>
              <a:rPr lang="en-US" sz="1300" dirty="0">
                <a:solidFill>
                  <a:srgbClr val="FFFFFF"/>
                </a:solidFill>
                <a:latin typeface="Calibri" pitchFamily="34" charset="0"/>
                <a:ea typeface="Calibri" pitchFamily="34" charset="-122"/>
                <a:cs typeface="Calibri" pitchFamily="34" charset="-120"/>
              </a:rPr>
              <a:t>Kamar Raza  (24CEBMC608)</a:t>
            </a:r>
            <a:pPr algn="l" indent="0" marL="0">
              <a:buNone/>
            </a:pPr>
            <a:endParaRPr lang="en-US" sz="1300" dirty="0"/>
          </a:p>
          <a:p>
            <a:pPr algn="l" indent="0" marL="0">
              <a:buNone/>
            </a:pPr>
            <a:r>
              <a:rPr lang="en-US" sz="1300" b="1" dirty="0">
                <a:solidFill>
                  <a:srgbClr val="02C39A"/>
                </a:solidFill>
                <a:latin typeface="Calibri" pitchFamily="34" charset="0"/>
                <a:ea typeface="Calibri" pitchFamily="34" charset="-122"/>
                <a:cs typeface="Calibri" pitchFamily="34" charset="-120"/>
              </a:rPr>
              <a:t>Guided By:  </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Dr. Abdul Jabbar Khilji  (Professor of MCA)</a:t>
            </a:r>
            <a:pPr algn="l" indent="0" marL="0">
              <a:buNone/>
            </a:pPr>
            <a:endParaRPr lang="en-US" sz="1300" dirty="0"/>
          </a:p>
          <a:p>
            <a:pPr algn="l" indent="0" marL="0">
              <a:buNone/>
            </a:pPr>
            <a:r>
              <a:rPr lang="en-US" sz="1300" b="1" dirty="0">
                <a:solidFill>
                  <a:srgbClr val="02C39A"/>
                </a:solidFill>
                <a:latin typeface="Calibri" pitchFamily="34" charset="0"/>
                <a:ea typeface="Calibri" pitchFamily="34" charset="-122"/>
                <a:cs typeface="Calibri" pitchFamily="34" charset="-120"/>
              </a:rPr>
              <a:t>Department:  </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MCA — 4th Semester  |  Engineering College of Bikaner</a:t>
            </a:r>
            <a:pPr algn="l" indent="0" marL="0">
              <a:buNone/>
            </a:pPr>
            <a:endParaRPr lang="en-US" sz="1300" dirty="0"/>
          </a:p>
          <a:p>
            <a:pPr algn="l" indent="0" marL="0">
              <a:buNone/>
            </a:pPr>
            <a:r>
              <a:rPr lang="en-US" sz="1300" b="1" dirty="0">
                <a:solidFill>
                  <a:srgbClr val="02C39A"/>
                </a:solidFill>
                <a:latin typeface="Calibri" pitchFamily="34" charset="0"/>
                <a:ea typeface="Calibri" pitchFamily="34" charset="-122"/>
                <a:cs typeface="Calibri" pitchFamily="34" charset="-120"/>
              </a:rPr>
              <a:t>Submitted To:  </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Sanjay Tejaswi  (HOD, MCA)</a:t>
            </a:r>
            <a:endParaRPr lang="en-US" sz="1300" dirty="0"/>
          </a:p>
        </p:txBody>
      </p:sp>
      <p:sp>
        <p:nvSpPr>
          <p:cNvPr id="9" name="Shape 7"/>
          <p:cNvSpPr/>
          <p:nvPr/>
        </p:nvSpPr>
        <p:spPr>
          <a:xfrm>
            <a:off x="0" y="4910328"/>
            <a:ext cx="9144000" cy="233172"/>
          </a:xfrm>
          <a:prstGeom prst="rect">
            <a:avLst/>
          </a:prstGeom>
          <a:solidFill>
            <a:srgbClr val="028090"/>
          </a:solidFill>
          <a:ln w="12700">
            <a:solidFill>
              <a:srgbClr val="028090"/>
            </a:solidFill>
            <a:prstDash val="solid"/>
          </a:ln>
        </p:spPr>
      </p:sp>
      <p:sp>
        <p:nvSpPr>
          <p:cNvPr id="10" name="Text 8"/>
          <p:cNvSpPr/>
          <p:nvPr/>
        </p:nvSpPr>
        <p:spPr>
          <a:xfrm>
            <a:off x="0" y="4910328"/>
            <a:ext cx="9144000" cy="233172"/>
          </a:xfrm>
          <a:prstGeom prst="rect">
            <a:avLst/>
          </a:prstGeom>
          <a:noFill/>
          <a:ln/>
        </p:spPr>
        <p:txBody>
          <a:bodyPr wrap="square" lIns="0" tIns="0" rIns="0" bIns="0" rtlCol="0" anchor="ctr"/>
          <a:lstStyle/>
          <a:p>
            <a:pPr algn="ctr" indent="0" marL="0">
              <a:buNone/>
            </a:pPr>
            <a:r>
              <a:rPr lang="en-US" sz="1100" dirty="0">
                <a:solidFill>
                  <a:srgbClr val="FFFFFF"/>
                </a:solidFill>
              </a:rPr>
              <a:t>Session 2024-25  |  Bikaner Technical University  |  Engineering College of Bikaner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65A82"/>
          </a:solidFill>
          <a:ln w="12700">
            <a:solidFill>
              <a:srgbClr val="065A82"/>
            </a:solidFill>
            <a:prstDash val="solid"/>
          </a:ln>
        </p:spPr>
      </p:sp>
      <p:sp>
        <p:nvSpPr>
          <p:cNvPr id="3" name="Text 1"/>
          <p:cNvSpPr/>
          <p:nvPr/>
        </p:nvSpPr>
        <p:spPr>
          <a:xfrm>
            <a:off x="457200" y="91440"/>
            <a:ext cx="822960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Agenda</a:t>
            </a:r>
            <a:endParaRPr lang="en-US" sz="3200" dirty="0"/>
          </a:p>
        </p:txBody>
      </p:sp>
      <p:sp>
        <p:nvSpPr>
          <p:cNvPr id="4" name="Shape 2"/>
          <p:cNvSpPr/>
          <p:nvPr/>
        </p:nvSpPr>
        <p:spPr>
          <a:xfrm>
            <a:off x="365760" y="1234440"/>
            <a:ext cx="475488" cy="475488"/>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65760" y="123444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rPr>
              <a:t>01</a:t>
            </a:r>
            <a:endParaRPr lang="en-US" sz="1400" dirty="0"/>
          </a:p>
        </p:txBody>
      </p:sp>
      <p:sp>
        <p:nvSpPr>
          <p:cNvPr id="6" name="Text 4"/>
          <p:cNvSpPr/>
          <p:nvPr/>
        </p:nvSpPr>
        <p:spPr>
          <a:xfrm>
            <a:off x="960120" y="1280160"/>
            <a:ext cx="3749040" cy="384048"/>
          </a:xfrm>
          <a:prstGeom prst="rect">
            <a:avLst/>
          </a:prstGeom>
          <a:noFill/>
          <a:ln/>
        </p:spPr>
        <p:txBody>
          <a:bodyPr wrap="square" lIns="0" tIns="0" rIns="0" bIns="0"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Introduction &amp; Problem Statement</a:t>
            </a:r>
            <a:endParaRPr lang="en-US" sz="1400" dirty="0"/>
          </a:p>
        </p:txBody>
      </p:sp>
      <p:sp>
        <p:nvSpPr>
          <p:cNvPr id="7" name="Shape 5"/>
          <p:cNvSpPr/>
          <p:nvPr/>
        </p:nvSpPr>
        <p:spPr>
          <a:xfrm>
            <a:off x="365760" y="2121408"/>
            <a:ext cx="475488" cy="475488"/>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365760" y="212140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rPr>
              <a:t>02</a:t>
            </a:r>
            <a:endParaRPr lang="en-US" sz="1400" dirty="0"/>
          </a:p>
        </p:txBody>
      </p:sp>
      <p:sp>
        <p:nvSpPr>
          <p:cNvPr id="9" name="Text 7"/>
          <p:cNvSpPr/>
          <p:nvPr/>
        </p:nvSpPr>
        <p:spPr>
          <a:xfrm>
            <a:off x="960120" y="2167128"/>
            <a:ext cx="3749040" cy="384048"/>
          </a:xfrm>
          <a:prstGeom prst="rect">
            <a:avLst/>
          </a:prstGeom>
          <a:noFill/>
          <a:ln/>
        </p:spPr>
        <p:txBody>
          <a:bodyPr wrap="square" lIns="0" tIns="0" rIns="0" bIns="0"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Project Objectives</a:t>
            </a:r>
            <a:endParaRPr lang="en-US" sz="1400" dirty="0"/>
          </a:p>
        </p:txBody>
      </p:sp>
      <p:sp>
        <p:nvSpPr>
          <p:cNvPr id="10" name="Shape 8"/>
          <p:cNvSpPr/>
          <p:nvPr/>
        </p:nvSpPr>
        <p:spPr>
          <a:xfrm>
            <a:off x="365760" y="3008376"/>
            <a:ext cx="475488" cy="475488"/>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365760" y="300837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rPr>
              <a:t>03</a:t>
            </a:r>
            <a:endParaRPr lang="en-US" sz="1400" dirty="0"/>
          </a:p>
        </p:txBody>
      </p:sp>
      <p:sp>
        <p:nvSpPr>
          <p:cNvPr id="12" name="Text 10"/>
          <p:cNvSpPr/>
          <p:nvPr/>
        </p:nvSpPr>
        <p:spPr>
          <a:xfrm>
            <a:off x="960120" y="3054096"/>
            <a:ext cx="3749040" cy="384048"/>
          </a:xfrm>
          <a:prstGeom prst="rect">
            <a:avLst/>
          </a:prstGeom>
          <a:noFill/>
          <a:ln/>
        </p:spPr>
        <p:txBody>
          <a:bodyPr wrap="square" lIns="0" tIns="0" rIns="0" bIns="0"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System Architecture</a:t>
            </a:r>
            <a:endParaRPr lang="en-US" sz="1400" dirty="0"/>
          </a:p>
        </p:txBody>
      </p:sp>
      <p:sp>
        <p:nvSpPr>
          <p:cNvPr id="13" name="Shape 11"/>
          <p:cNvSpPr/>
          <p:nvPr/>
        </p:nvSpPr>
        <p:spPr>
          <a:xfrm>
            <a:off x="365760" y="3895344"/>
            <a:ext cx="475488" cy="475488"/>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365760" y="389534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rPr>
              <a:t>04</a:t>
            </a:r>
            <a:endParaRPr lang="en-US" sz="1400" dirty="0"/>
          </a:p>
        </p:txBody>
      </p:sp>
      <p:sp>
        <p:nvSpPr>
          <p:cNvPr id="15" name="Text 13"/>
          <p:cNvSpPr/>
          <p:nvPr/>
        </p:nvSpPr>
        <p:spPr>
          <a:xfrm>
            <a:off x="960120" y="3941064"/>
            <a:ext cx="3749040" cy="384048"/>
          </a:xfrm>
          <a:prstGeom prst="rect">
            <a:avLst/>
          </a:prstGeom>
          <a:noFill/>
          <a:ln/>
        </p:spPr>
        <p:txBody>
          <a:bodyPr wrap="square" lIns="0" tIns="0" rIns="0" bIns="0"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Key Features</a:t>
            </a:r>
            <a:endParaRPr lang="en-US" sz="1400" dirty="0"/>
          </a:p>
        </p:txBody>
      </p:sp>
      <p:sp>
        <p:nvSpPr>
          <p:cNvPr id="16" name="Shape 14"/>
          <p:cNvSpPr/>
          <p:nvPr/>
        </p:nvSpPr>
        <p:spPr>
          <a:xfrm>
            <a:off x="4754880" y="1234440"/>
            <a:ext cx="475488" cy="475488"/>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4754880" y="123444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rPr>
              <a:t>05</a:t>
            </a:r>
            <a:endParaRPr lang="en-US" sz="1400" dirty="0"/>
          </a:p>
        </p:txBody>
      </p:sp>
      <p:sp>
        <p:nvSpPr>
          <p:cNvPr id="18" name="Text 16"/>
          <p:cNvSpPr/>
          <p:nvPr/>
        </p:nvSpPr>
        <p:spPr>
          <a:xfrm>
            <a:off x="5349240" y="1280160"/>
            <a:ext cx="3749040" cy="384048"/>
          </a:xfrm>
          <a:prstGeom prst="rect">
            <a:avLst/>
          </a:prstGeom>
          <a:noFill/>
          <a:ln/>
        </p:spPr>
        <p:txBody>
          <a:bodyPr wrap="square" lIns="0" tIns="0" rIns="0" bIns="0"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Technology Stack</a:t>
            </a:r>
            <a:endParaRPr lang="en-US" sz="1400" dirty="0"/>
          </a:p>
        </p:txBody>
      </p:sp>
      <p:sp>
        <p:nvSpPr>
          <p:cNvPr id="19" name="Shape 17"/>
          <p:cNvSpPr/>
          <p:nvPr/>
        </p:nvSpPr>
        <p:spPr>
          <a:xfrm>
            <a:off x="4754880" y="2121408"/>
            <a:ext cx="475488" cy="475488"/>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4754880" y="212140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rPr>
              <a:t>06</a:t>
            </a:r>
            <a:endParaRPr lang="en-US" sz="1400" dirty="0"/>
          </a:p>
        </p:txBody>
      </p:sp>
      <p:sp>
        <p:nvSpPr>
          <p:cNvPr id="21" name="Text 19"/>
          <p:cNvSpPr/>
          <p:nvPr/>
        </p:nvSpPr>
        <p:spPr>
          <a:xfrm>
            <a:off x="5349240" y="2167128"/>
            <a:ext cx="3749040" cy="384048"/>
          </a:xfrm>
          <a:prstGeom prst="rect">
            <a:avLst/>
          </a:prstGeom>
          <a:noFill/>
          <a:ln/>
        </p:spPr>
        <p:txBody>
          <a:bodyPr wrap="square" lIns="0" tIns="0" rIns="0" bIns="0"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Database Design</a:t>
            </a:r>
            <a:endParaRPr lang="en-US" sz="1400" dirty="0"/>
          </a:p>
        </p:txBody>
      </p:sp>
      <p:sp>
        <p:nvSpPr>
          <p:cNvPr id="22" name="Shape 20"/>
          <p:cNvSpPr/>
          <p:nvPr/>
        </p:nvSpPr>
        <p:spPr>
          <a:xfrm>
            <a:off x="4754880" y="3008376"/>
            <a:ext cx="475488" cy="475488"/>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3" name="Text 21"/>
          <p:cNvSpPr/>
          <p:nvPr/>
        </p:nvSpPr>
        <p:spPr>
          <a:xfrm>
            <a:off x="4754880" y="300837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rPr>
              <a:t>07</a:t>
            </a:r>
            <a:endParaRPr lang="en-US" sz="1400" dirty="0"/>
          </a:p>
        </p:txBody>
      </p:sp>
      <p:sp>
        <p:nvSpPr>
          <p:cNvPr id="24" name="Text 22"/>
          <p:cNvSpPr/>
          <p:nvPr/>
        </p:nvSpPr>
        <p:spPr>
          <a:xfrm>
            <a:off x="5349240" y="3054096"/>
            <a:ext cx="3749040" cy="384048"/>
          </a:xfrm>
          <a:prstGeom prst="rect">
            <a:avLst/>
          </a:prstGeom>
          <a:noFill/>
          <a:ln/>
        </p:spPr>
        <p:txBody>
          <a:bodyPr wrap="square" lIns="0" tIns="0" rIns="0" bIns="0"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System Modules</a:t>
            </a:r>
            <a:endParaRPr lang="en-US" sz="1400" dirty="0"/>
          </a:p>
        </p:txBody>
      </p:sp>
      <p:sp>
        <p:nvSpPr>
          <p:cNvPr id="25" name="Shape 23"/>
          <p:cNvSpPr/>
          <p:nvPr/>
        </p:nvSpPr>
        <p:spPr>
          <a:xfrm>
            <a:off x="4754880" y="3895344"/>
            <a:ext cx="475488" cy="475488"/>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6" name="Text 24"/>
          <p:cNvSpPr/>
          <p:nvPr/>
        </p:nvSpPr>
        <p:spPr>
          <a:xfrm>
            <a:off x="4754880" y="389534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rPr>
              <a:t>08</a:t>
            </a:r>
            <a:endParaRPr lang="en-US" sz="1400" dirty="0"/>
          </a:p>
        </p:txBody>
      </p:sp>
      <p:sp>
        <p:nvSpPr>
          <p:cNvPr id="27" name="Text 25"/>
          <p:cNvSpPr/>
          <p:nvPr/>
        </p:nvSpPr>
        <p:spPr>
          <a:xfrm>
            <a:off x="5349240" y="3941064"/>
            <a:ext cx="3749040" cy="384048"/>
          </a:xfrm>
          <a:prstGeom prst="rect">
            <a:avLst/>
          </a:prstGeom>
          <a:noFill/>
          <a:ln/>
        </p:spPr>
        <p:txBody>
          <a:bodyPr wrap="square" lIns="0" tIns="0" rIns="0" bIns="0"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Conclusion &amp; Future Scope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65A82"/>
          </a:solidFill>
          <a:ln w="12700">
            <a:solidFill>
              <a:srgbClr val="065A82"/>
            </a:solidFill>
            <a:prstDash val="solid"/>
          </a:ln>
        </p:spPr>
      </p:sp>
      <p:sp>
        <p:nvSpPr>
          <p:cNvPr id="3" name="Text 1"/>
          <p:cNvSpPr/>
          <p:nvPr/>
        </p:nvSpPr>
        <p:spPr>
          <a:xfrm>
            <a:off x="457200" y="91440"/>
            <a:ext cx="822960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Introduction</a:t>
            </a:r>
            <a:endParaRPr lang="en-US" sz="3000" dirty="0"/>
          </a:p>
        </p:txBody>
      </p:sp>
      <p:sp>
        <p:nvSpPr>
          <p:cNvPr id="4" name="Shape 2"/>
          <p:cNvSpPr/>
          <p:nvPr/>
        </p:nvSpPr>
        <p:spPr>
          <a:xfrm>
            <a:off x="274320" y="1143000"/>
            <a:ext cx="3931920" cy="3566160"/>
          </a:xfrm>
          <a:prstGeom prst="rect">
            <a:avLst/>
          </a:prstGeom>
          <a:solidFill>
            <a:srgbClr val="F0F9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1143000"/>
            <a:ext cx="3931920" cy="457200"/>
          </a:xfrm>
          <a:prstGeom prst="rect">
            <a:avLst/>
          </a:prstGeom>
          <a:solidFill>
            <a:srgbClr val="028090"/>
          </a:solidFill>
          <a:ln w="12700">
            <a:solidFill>
              <a:srgbClr val="028090"/>
            </a:solidFill>
            <a:prstDash val="solid"/>
          </a:ln>
        </p:spPr>
      </p:sp>
      <p:sp>
        <p:nvSpPr>
          <p:cNvPr id="6" name="Text 4"/>
          <p:cNvSpPr/>
          <p:nvPr/>
        </p:nvSpPr>
        <p:spPr>
          <a:xfrm>
            <a:off x="274320" y="1143000"/>
            <a:ext cx="3931920" cy="457200"/>
          </a:xfrm>
          <a:prstGeom prst="rect">
            <a:avLst/>
          </a:prstGeom>
          <a:noFill/>
          <a:ln/>
        </p:spPr>
        <p:txBody>
          <a:bodyPr wrap="square" lIns="0" tIns="0" rIns="0" bIns="0" rtlCol="0" anchor="ctr"/>
          <a:lstStyle/>
          <a:p>
            <a:pPr algn="ctr" indent="0" marL="0">
              <a:buNone/>
            </a:pPr>
            <a:r>
              <a:rPr lang="en-US" sz="1300" b="1" dirty="0">
                <a:solidFill>
                  <a:srgbClr val="FFFFFF"/>
                </a:solidFill>
              </a:rPr>
              <a:t>  Problem Statement</a:t>
            </a:r>
            <a:endParaRPr lang="en-US" sz="1300" dirty="0"/>
          </a:p>
        </p:txBody>
      </p:sp>
      <p:sp>
        <p:nvSpPr>
          <p:cNvPr id="7" name="Text 5"/>
          <p:cNvSpPr/>
          <p:nvPr/>
        </p:nvSpPr>
        <p:spPr>
          <a:xfrm>
            <a:off x="438912" y="1691640"/>
            <a:ext cx="3657600" cy="2926080"/>
          </a:xfrm>
          <a:prstGeom prst="rect">
            <a:avLst/>
          </a:prstGeom>
          <a:noFill/>
          <a:ln/>
        </p:spPr>
        <p:txBody>
          <a:bodyPr wrap="square"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Traditional pharmacies face challenges:</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Manual billing &amp; record keeping errors</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No centralized medicine catalog</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Difficulty managing prescriptions</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No digital order history for customers</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Pharmacist workload &amp; inefficiency</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No online platform to search medicines</a:t>
            </a:r>
            <a:endParaRPr lang="en-US" sz="1250" dirty="0"/>
          </a:p>
        </p:txBody>
      </p:sp>
      <p:sp>
        <p:nvSpPr>
          <p:cNvPr id="8" name="Shape 6"/>
          <p:cNvSpPr/>
          <p:nvPr/>
        </p:nvSpPr>
        <p:spPr>
          <a:xfrm>
            <a:off x="4754880" y="1143000"/>
            <a:ext cx="3931920" cy="3566160"/>
          </a:xfrm>
          <a:prstGeom prst="rect">
            <a:avLst/>
          </a:prstGeom>
          <a:solidFill>
            <a:srgbClr val="F0F9FF"/>
          </a:solidFill>
          <a:ln w="12700">
            <a:solidFill>
              <a:srgbClr val="02C39A"/>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4754880" y="1143000"/>
            <a:ext cx="3931920" cy="457200"/>
          </a:xfrm>
          <a:prstGeom prst="rect">
            <a:avLst/>
          </a:prstGeom>
          <a:solidFill>
            <a:srgbClr val="02C39A"/>
          </a:solidFill>
          <a:ln w="12700">
            <a:solidFill>
              <a:srgbClr val="02C39A"/>
            </a:solidFill>
            <a:prstDash val="solid"/>
          </a:ln>
        </p:spPr>
      </p:sp>
      <p:sp>
        <p:nvSpPr>
          <p:cNvPr id="10" name="Text 8"/>
          <p:cNvSpPr/>
          <p:nvPr/>
        </p:nvSpPr>
        <p:spPr>
          <a:xfrm>
            <a:off x="4754880" y="1143000"/>
            <a:ext cx="3931920" cy="457200"/>
          </a:xfrm>
          <a:prstGeom prst="rect">
            <a:avLst/>
          </a:prstGeom>
          <a:noFill/>
          <a:ln/>
        </p:spPr>
        <p:txBody>
          <a:bodyPr wrap="square" lIns="0" tIns="0" rIns="0" bIns="0" rtlCol="0" anchor="ctr"/>
          <a:lstStyle/>
          <a:p>
            <a:pPr algn="ctr" indent="0" marL="0">
              <a:buNone/>
            </a:pPr>
            <a:r>
              <a:rPr lang="en-US" sz="1300" b="1" dirty="0">
                <a:solidFill>
                  <a:srgbClr val="FFFFFF"/>
                </a:solidFill>
              </a:rPr>
              <a:t>  Our Solution</a:t>
            </a:r>
            <a:endParaRPr lang="en-US" sz="1300" dirty="0"/>
          </a:p>
        </p:txBody>
      </p:sp>
      <p:sp>
        <p:nvSpPr>
          <p:cNvPr id="11" name="Text 9"/>
          <p:cNvSpPr/>
          <p:nvPr/>
        </p:nvSpPr>
        <p:spPr>
          <a:xfrm>
            <a:off x="4892040" y="1691640"/>
            <a:ext cx="3657600" cy="2926080"/>
          </a:xfrm>
          <a:prstGeom prst="rect">
            <a:avLst/>
          </a:prstGeom>
          <a:noFill/>
          <a:ln/>
        </p:spPr>
        <p:txBody>
          <a:bodyPr wrap="square"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E-Pharmacy Portal provides:</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Online medicine search &amp; ordering (pickup)</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Digital prescription upload &amp; verification</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Admin dashboard for full control</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Pharmacist panel for order management</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Customer order history &amp; tracking</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 Secure user authentication system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65A82"/>
          </a:solidFill>
          <a:ln w="12700">
            <a:solidFill>
              <a:srgbClr val="065A82"/>
            </a:solidFill>
            <a:prstDash val="solid"/>
          </a:ln>
        </p:spPr>
      </p:sp>
      <p:sp>
        <p:nvSpPr>
          <p:cNvPr id="3" name="Text 1"/>
          <p:cNvSpPr/>
          <p:nvPr/>
        </p:nvSpPr>
        <p:spPr>
          <a:xfrm>
            <a:off x="457200" y="91440"/>
            <a:ext cx="822960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Project Objectives</a:t>
            </a:r>
            <a:endParaRPr lang="en-US" sz="3000" dirty="0"/>
          </a:p>
        </p:txBody>
      </p:sp>
      <p:sp>
        <p:nvSpPr>
          <p:cNvPr id="4" name="Shape 2"/>
          <p:cNvSpPr/>
          <p:nvPr/>
        </p:nvSpPr>
        <p:spPr>
          <a:xfrm>
            <a:off x="228600" y="1143000"/>
            <a:ext cx="2743200" cy="1645920"/>
          </a:xfrm>
          <a:prstGeom prst="rect">
            <a:avLst/>
          </a:prstGeom>
          <a:solidFill>
            <a:srgbClr val="F0F9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28600" y="1143000"/>
            <a:ext cx="54864" cy="1645920"/>
          </a:xfrm>
          <a:prstGeom prst="rect">
            <a:avLst/>
          </a:prstGeom>
          <a:solidFill>
            <a:srgbClr val="028090"/>
          </a:solidFill>
          <a:ln w="12700">
            <a:solidFill>
              <a:srgbClr val="028090"/>
            </a:solidFill>
            <a:prstDash val="solid"/>
          </a:ln>
        </p:spPr>
      </p:sp>
      <p:sp>
        <p:nvSpPr>
          <p:cNvPr id="6" name="Text 4"/>
          <p:cNvSpPr/>
          <p:nvPr/>
        </p:nvSpPr>
        <p:spPr>
          <a:xfrm>
            <a:off x="356616" y="1234440"/>
            <a:ext cx="2542032" cy="347472"/>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  Medicine Search</a:t>
            </a:r>
            <a:endParaRPr lang="en-US" sz="1250" dirty="0"/>
          </a:p>
        </p:txBody>
      </p:sp>
      <p:sp>
        <p:nvSpPr>
          <p:cNvPr id="7" name="Text 5"/>
          <p:cNvSpPr/>
          <p:nvPr/>
        </p:nvSpPr>
        <p:spPr>
          <a:xfrm>
            <a:off x="356616" y="1636776"/>
            <a:ext cx="2542032" cy="107899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Allow customers to search and browse medicines by name or category through an easy-to-use portal.</a:t>
            </a:r>
            <a:endParaRPr lang="en-US" sz="1100" dirty="0"/>
          </a:p>
        </p:txBody>
      </p:sp>
      <p:sp>
        <p:nvSpPr>
          <p:cNvPr id="8" name="Shape 6"/>
          <p:cNvSpPr/>
          <p:nvPr/>
        </p:nvSpPr>
        <p:spPr>
          <a:xfrm>
            <a:off x="3154680" y="1143000"/>
            <a:ext cx="2743200" cy="1645920"/>
          </a:xfrm>
          <a:prstGeom prst="rect">
            <a:avLst/>
          </a:prstGeom>
          <a:solidFill>
            <a:srgbClr val="F0F9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3154680" y="1143000"/>
            <a:ext cx="54864" cy="1645920"/>
          </a:xfrm>
          <a:prstGeom prst="rect">
            <a:avLst/>
          </a:prstGeom>
          <a:solidFill>
            <a:srgbClr val="028090"/>
          </a:solidFill>
          <a:ln w="12700">
            <a:solidFill>
              <a:srgbClr val="028090"/>
            </a:solidFill>
            <a:prstDash val="solid"/>
          </a:ln>
        </p:spPr>
      </p:sp>
      <p:sp>
        <p:nvSpPr>
          <p:cNvPr id="10" name="Text 8"/>
          <p:cNvSpPr/>
          <p:nvPr/>
        </p:nvSpPr>
        <p:spPr>
          <a:xfrm>
            <a:off x="3282696" y="1234440"/>
            <a:ext cx="2542032" cy="347472"/>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  Online Ordering (Pickup)</a:t>
            </a:r>
            <a:endParaRPr lang="en-US" sz="1250" dirty="0"/>
          </a:p>
        </p:txBody>
      </p:sp>
      <p:sp>
        <p:nvSpPr>
          <p:cNvPr id="11" name="Text 9"/>
          <p:cNvSpPr/>
          <p:nvPr/>
        </p:nvSpPr>
        <p:spPr>
          <a:xfrm>
            <a:off x="3282696" y="1636776"/>
            <a:ext cx="2542032" cy="107899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Customers can place orders online and collect their medicines in-store at their convenience.</a:t>
            </a:r>
            <a:endParaRPr lang="en-US" sz="1100" dirty="0"/>
          </a:p>
        </p:txBody>
      </p:sp>
      <p:sp>
        <p:nvSpPr>
          <p:cNvPr id="12" name="Shape 10"/>
          <p:cNvSpPr/>
          <p:nvPr/>
        </p:nvSpPr>
        <p:spPr>
          <a:xfrm>
            <a:off x="6080760" y="1143000"/>
            <a:ext cx="2743200" cy="1645920"/>
          </a:xfrm>
          <a:prstGeom prst="rect">
            <a:avLst/>
          </a:prstGeom>
          <a:solidFill>
            <a:srgbClr val="F0F9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6080760" y="1143000"/>
            <a:ext cx="54864" cy="1645920"/>
          </a:xfrm>
          <a:prstGeom prst="rect">
            <a:avLst/>
          </a:prstGeom>
          <a:solidFill>
            <a:srgbClr val="028090"/>
          </a:solidFill>
          <a:ln w="12700">
            <a:solidFill>
              <a:srgbClr val="028090"/>
            </a:solidFill>
            <a:prstDash val="solid"/>
          </a:ln>
        </p:spPr>
      </p:sp>
      <p:sp>
        <p:nvSpPr>
          <p:cNvPr id="14" name="Text 12"/>
          <p:cNvSpPr/>
          <p:nvPr/>
        </p:nvSpPr>
        <p:spPr>
          <a:xfrm>
            <a:off x="6208776" y="1234440"/>
            <a:ext cx="2542032" cy="347472"/>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  Prescription Management</a:t>
            </a:r>
            <a:endParaRPr lang="en-US" sz="1250" dirty="0"/>
          </a:p>
        </p:txBody>
      </p:sp>
      <p:sp>
        <p:nvSpPr>
          <p:cNvPr id="15" name="Text 13"/>
          <p:cNvSpPr/>
          <p:nvPr/>
        </p:nvSpPr>
        <p:spPr>
          <a:xfrm>
            <a:off x="6208776" y="1636776"/>
            <a:ext cx="2542032" cy="107899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Enable digital upload of prescriptions by customers and verification by pharmacists.</a:t>
            </a:r>
            <a:endParaRPr lang="en-US" sz="1100" dirty="0"/>
          </a:p>
        </p:txBody>
      </p:sp>
      <p:sp>
        <p:nvSpPr>
          <p:cNvPr id="16" name="Shape 14"/>
          <p:cNvSpPr/>
          <p:nvPr/>
        </p:nvSpPr>
        <p:spPr>
          <a:xfrm>
            <a:off x="228600" y="3017520"/>
            <a:ext cx="2743200" cy="1645920"/>
          </a:xfrm>
          <a:prstGeom prst="rect">
            <a:avLst/>
          </a:prstGeom>
          <a:solidFill>
            <a:srgbClr val="F0F9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228600" y="3017520"/>
            <a:ext cx="54864" cy="1645920"/>
          </a:xfrm>
          <a:prstGeom prst="rect">
            <a:avLst/>
          </a:prstGeom>
          <a:solidFill>
            <a:srgbClr val="028090"/>
          </a:solidFill>
          <a:ln w="12700">
            <a:solidFill>
              <a:srgbClr val="028090"/>
            </a:solidFill>
            <a:prstDash val="solid"/>
          </a:ln>
        </p:spPr>
      </p:sp>
      <p:sp>
        <p:nvSpPr>
          <p:cNvPr id="18" name="Text 16"/>
          <p:cNvSpPr/>
          <p:nvPr/>
        </p:nvSpPr>
        <p:spPr>
          <a:xfrm>
            <a:off x="356616" y="3108960"/>
            <a:ext cx="2542032" cy="347472"/>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  Pharmacist Panel</a:t>
            </a:r>
            <a:endParaRPr lang="en-US" sz="1250" dirty="0"/>
          </a:p>
        </p:txBody>
      </p:sp>
      <p:sp>
        <p:nvSpPr>
          <p:cNvPr id="19" name="Text 17"/>
          <p:cNvSpPr/>
          <p:nvPr/>
        </p:nvSpPr>
        <p:spPr>
          <a:xfrm>
            <a:off x="356616" y="3511296"/>
            <a:ext cx="2542032" cy="107899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Dedicated panel for pharmacists to view, verify prescriptions and process customer orders.</a:t>
            </a:r>
            <a:endParaRPr lang="en-US" sz="1100" dirty="0"/>
          </a:p>
        </p:txBody>
      </p:sp>
      <p:sp>
        <p:nvSpPr>
          <p:cNvPr id="20" name="Shape 18"/>
          <p:cNvSpPr/>
          <p:nvPr/>
        </p:nvSpPr>
        <p:spPr>
          <a:xfrm>
            <a:off x="3154680" y="3017520"/>
            <a:ext cx="2743200" cy="1645920"/>
          </a:xfrm>
          <a:prstGeom prst="rect">
            <a:avLst/>
          </a:prstGeom>
          <a:solidFill>
            <a:srgbClr val="F0F9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3154680" y="3017520"/>
            <a:ext cx="54864" cy="1645920"/>
          </a:xfrm>
          <a:prstGeom prst="rect">
            <a:avLst/>
          </a:prstGeom>
          <a:solidFill>
            <a:srgbClr val="028090"/>
          </a:solidFill>
          <a:ln w="12700">
            <a:solidFill>
              <a:srgbClr val="028090"/>
            </a:solidFill>
            <a:prstDash val="solid"/>
          </a:ln>
        </p:spPr>
      </p:sp>
      <p:sp>
        <p:nvSpPr>
          <p:cNvPr id="22" name="Text 20"/>
          <p:cNvSpPr/>
          <p:nvPr/>
        </p:nvSpPr>
        <p:spPr>
          <a:xfrm>
            <a:off x="3282696" y="3108960"/>
            <a:ext cx="2542032" cy="347472"/>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  Admin Dashboard</a:t>
            </a:r>
            <a:endParaRPr lang="en-US" sz="1250" dirty="0"/>
          </a:p>
        </p:txBody>
      </p:sp>
      <p:sp>
        <p:nvSpPr>
          <p:cNvPr id="23" name="Text 21"/>
          <p:cNvSpPr/>
          <p:nvPr/>
        </p:nvSpPr>
        <p:spPr>
          <a:xfrm>
            <a:off x="3282696" y="3511296"/>
            <a:ext cx="2542032" cy="107899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Full control panel for admin to manage medicines, users, and view all orders and reports.</a:t>
            </a:r>
            <a:endParaRPr lang="en-US" sz="1100" dirty="0"/>
          </a:p>
        </p:txBody>
      </p:sp>
      <p:sp>
        <p:nvSpPr>
          <p:cNvPr id="24" name="Shape 22"/>
          <p:cNvSpPr/>
          <p:nvPr/>
        </p:nvSpPr>
        <p:spPr>
          <a:xfrm>
            <a:off x="6080760" y="3017520"/>
            <a:ext cx="2743200" cy="1645920"/>
          </a:xfrm>
          <a:prstGeom prst="rect">
            <a:avLst/>
          </a:prstGeom>
          <a:solidFill>
            <a:srgbClr val="F0F9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6080760" y="3017520"/>
            <a:ext cx="54864" cy="1645920"/>
          </a:xfrm>
          <a:prstGeom prst="rect">
            <a:avLst/>
          </a:prstGeom>
          <a:solidFill>
            <a:srgbClr val="028090"/>
          </a:solidFill>
          <a:ln w="12700">
            <a:solidFill>
              <a:srgbClr val="028090"/>
            </a:solidFill>
            <a:prstDash val="solid"/>
          </a:ln>
        </p:spPr>
      </p:sp>
      <p:sp>
        <p:nvSpPr>
          <p:cNvPr id="26" name="Text 24"/>
          <p:cNvSpPr/>
          <p:nvPr/>
        </p:nvSpPr>
        <p:spPr>
          <a:xfrm>
            <a:off x="6208776" y="3108960"/>
            <a:ext cx="2542032" cy="347472"/>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  Secure Authentication</a:t>
            </a:r>
            <a:endParaRPr lang="en-US" sz="1250" dirty="0"/>
          </a:p>
        </p:txBody>
      </p:sp>
      <p:sp>
        <p:nvSpPr>
          <p:cNvPr id="27" name="Text 25"/>
          <p:cNvSpPr/>
          <p:nvPr/>
        </p:nvSpPr>
        <p:spPr>
          <a:xfrm>
            <a:off x="6208776" y="3511296"/>
            <a:ext cx="2542032" cy="107899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Role-based login system for Admin, Pharmacist, and Customer with secure access control.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65A82"/>
          </a:solidFill>
          <a:ln w="12700">
            <a:solidFill>
              <a:srgbClr val="065A82"/>
            </a:solidFill>
            <a:prstDash val="solid"/>
          </a:ln>
        </p:spPr>
      </p:sp>
      <p:sp>
        <p:nvSpPr>
          <p:cNvPr id="3" name="Text 1"/>
          <p:cNvSpPr/>
          <p:nvPr/>
        </p:nvSpPr>
        <p:spPr>
          <a:xfrm>
            <a:off x="457200" y="91440"/>
            <a:ext cx="822960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System Architecture</a:t>
            </a:r>
            <a:endParaRPr lang="en-US" sz="3000" dirty="0"/>
          </a:p>
        </p:txBody>
      </p:sp>
      <p:sp>
        <p:nvSpPr>
          <p:cNvPr id="4" name="Shape 2"/>
          <p:cNvSpPr/>
          <p:nvPr/>
        </p:nvSpPr>
        <p:spPr>
          <a:xfrm>
            <a:off x="1463040" y="1170432"/>
            <a:ext cx="6217920" cy="914400"/>
          </a:xfrm>
          <a:prstGeom prst="rect">
            <a:avLst/>
          </a:prstGeom>
          <a:solidFill>
            <a:srgbClr val="02C39A"/>
          </a:solidFill>
          <a:ln w="12700">
            <a:solidFill>
              <a:srgbClr val="02C39A"/>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1463040" y="1216152"/>
            <a:ext cx="6217920" cy="384048"/>
          </a:xfrm>
          <a:prstGeom prst="rect">
            <a:avLst/>
          </a:prstGeom>
          <a:noFill/>
          <a:ln/>
        </p:spPr>
        <p:txBody>
          <a:bodyPr wrap="square" lIns="0" tIns="0" rIns="0" bIns="0" rtlCol="0" anchor="ctr"/>
          <a:lstStyle/>
          <a:p>
            <a:pPr algn="ctr" indent="0" marL="0">
              <a:buNone/>
            </a:pPr>
            <a:r>
              <a:rPr lang="en-US" sz="1500" b="1" dirty="0">
                <a:solidFill>
                  <a:srgbClr val="FFFFFF"/>
                </a:solidFill>
              </a:rPr>
              <a:t>Frontend (View)</a:t>
            </a:r>
            <a:endParaRPr lang="en-US" sz="1500" dirty="0"/>
          </a:p>
        </p:txBody>
      </p:sp>
      <p:sp>
        <p:nvSpPr>
          <p:cNvPr id="6" name="Text 4"/>
          <p:cNvSpPr/>
          <p:nvPr/>
        </p:nvSpPr>
        <p:spPr>
          <a:xfrm>
            <a:off x="1463040" y="1645920"/>
            <a:ext cx="6217920" cy="347472"/>
          </a:xfrm>
          <a:prstGeom prst="rect">
            <a:avLst/>
          </a:prstGeom>
          <a:noFill/>
          <a:ln/>
        </p:spPr>
        <p:txBody>
          <a:bodyPr wrap="square" lIns="0" tIns="0" rIns="0" bIns="0" rtlCol="0" anchor="t"/>
          <a:lstStyle/>
          <a:p>
            <a:pPr algn="ctr" indent="0" marL="0">
              <a:buNone/>
            </a:pPr>
            <a:r>
              <a:rPr lang="en-US" sz="1150" dirty="0">
                <a:solidFill>
                  <a:srgbClr val="FFFFFF"/>
                </a:solidFill>
              </a:rPr>
              <a:t>HTML5  |  CSS3  |  JavaScript  |  EJS Templates</a:t>
            </a:r>
            <a:endParaRPr lang="en-US" sz="1150" dirty="0"/>
          </a:p>
        </p:txBody>
      </p:sp>
      <p:sp>
        <p:nvSpPr>
          <p:cNvPr id="7" name="Shape 5"/>
          <p:cNvSpPr/>
          <p:nvPr/>
        </p:nvSpPr>
        <p:spPr>
          <a:xfrm>
            <a:off x="1463040" y="2331720"/>
            <a:ext cx="6217920" cy="914400"/>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1463040" y="2377440"/>
            <a:ext cx="6217920" cy="384048"/>
          </a:xfrm>
          <a:prstGeom prst="rect">
            <a:avLst/>
          </a:prstGeom>
          <a:noFill/>
          <a:ln/>
        </p:spPr>
        <p:txBody>
          <a:bodyPr wrap="square" lIns="0" tIns="0" rIns="0" bIns="0" rtlCol="0" anchor="ctr"/>
          <a:lstStyle/>
          <a:p>
            <a:pPr algn="ctr" indent="0" marL="0">
              <a:buNone/>
            </a:pPr>
            <a:r>
              <a:rPr lang="en-US" sz="1500" b="1" dirty="0">
                <a:solidFill>
                  <a:srgbClr val="FFFFFF"/>
                </a:solidFill>
              </a:rPr>
              <a:t>Backend (Controller)</a:t>
            </a:r>
            <a:endParaRPr lang="en-US" sz="1500" dirty="0"/>
          </a:p>
        </p:txBody>
      </p:sp>
      <p:sp>
        <p:nvSpPr>
          <p:cNvPr id="9" name="Text 7"/>
          <p:cNvSpPr/>
          <p:nvPr/>
        </p:nvSpPr>
        <p:spPr>
          <a:xfrm>
            <a:off x="1463040" y="2807208"/>
            <a:ext cx="6217920" cy="347472"/>
          </a:xfrm>
          <a:prstGeom prst="rect">
            <a:avLst/>
          </a:prstGeom>
          <a:noFill/>
          <a:ln/>
        </p:spPr>
        <p:txBody>
          <a:bodyPr wrap="square" lIns="0" tIns="0" rIns="0" bIns="0" rtlCol="0" anchor="t"/>
          <a:lstStyle/>
          <a:p>
            <a:pPr algn="ctr" indent="0" marL="0">
              <a:buNone/>
            </a:pPr>
            <a:r>
              <a:rPr lang="en-US" sz="1150" dirty="0">
                <a:solidFill>
                  <a:srgbClr val="FFFFFF"/>
                </a:solidFill>
              </a:rPr>
              <a:t>Node.js  |  Express.js  |  REST APIs  |  JWT Authentication</a:t>
            </a:r>
            <a:endParaRPr lang="en-US" sz="1150" dirty="0"/>
          </a:p>
        </p:txBody>
      </p:sp>
      <p:sp>
        <p:nvSpPr>
          <p:cNvPr id="10" name="Shape 8"/>
          <p:cNvSpPr/>
          <p:nvPr/>
        </p:nvSpPr>
        <p:spPr>
          <a:xfrm>
            <a:off x="1463040" y="3493008"/>
            <a:ext cx="6217920" cy="91440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1463040" y="3538728"/>
            <a:ext cx="6217920" cy="384048"/>
          </a:xfrm>
          <a:prstGeom prst="rect">
            <a:avLst/>
          </a:prstGeom>
          <a:noFill/>
          <a:ln/>
        </p:spPr>
        <p:txBody>
          <a:bodyPr wrap="square" lIns="0" tIns="0" rIns="0" bIns="0" rtlCol="0" anchor="ctr"/>
          <a:lstStyle/>
          <a:p>
            <a:pPr algn="ctr" indent="0" marL="0">
              <a:buNone/>
            </a:pPr>
            <a:r>
              <a:rPr lang="en-US" sz="1500" b="1" dirty="0">
                <a:solidFill>
                  <a:srgbClr val="FFFFFF"/>
                </a:solidFill>
              </a:rPr>
              <a:t>Database (Model)</a:t>
            </a:r>
            <a:endParaRPr lang="en-US" sz="1500" dirty="0"/>
          </a:p>
        </p:txBody>
      </p:sp>
      <p:sp>
        <p:nvSpPr>
          <p:cNvPr id="12" name="Text 10"/>
          <p:cNvSpPr/>
          <p:nvPr/>
        </p:nvSpPr>
        <p:spPr>
          <a:xfrm>
            <a:off x="1463040" y="3968496"/>
            <a:ext cx="6217920" cy="347472"/>
          </a:xfrm>
          <a:prstGeom prst="rect">
            <a:avLst/>
          </a:prstGeom>
          <a:noFill/>
          <a:ln/>
        </p:spPr>
        <p:txBody>
          <a:bodyPr wrap="square" lIns="0" tIns="0" rIns="0" bIns="0" rtlCol="0" anchor="t"/>
          <a:lstStyle/>
          <a:p>
            <a:pPr algn="ctr" indent="0" marL="0">
              <a:buNone/>
            </a:pPr>
            <a:r>
              <a:rPr lang="en-US" sz="1150" dirty="0">
                <a:solidFill>
                  <a:srgbClr val="FFFFFF"/>
                </a:solidFill>
              </a:rPr>
              <a:t>MongoDB  |  Mongoose ODM  |  Collections: Users, Medicines, Orders, Prescriptions</a:t>
            </a:r>
            <a:endParaRPr lang="en-US" sz="1150" dirty="0"/>
          </a:p>
        </p:txBody>
      </p:sp>
      <p:sp>
        <p:nvSpPr>
          <p:cNvPr id="13" name="Shape 11"/>
          <p:cNvSpPr/>
          <p:nvPr/>
        </p:nvSpPr>
        <p:spPr>
          <a:xfrm>
            <a:off x="4462272" y="2084832"/>
            <a:ext cx="219456" cy="246888"/>
          </a:xfrm>
          <a:prstGeom prst="rect">
            <a:avLst/>
          </a:prstGeom>
          <a:solidFill>
            <a:srgbClr val="64748B"/>
          </a:solidFill>
          <a:ln w="12700">
            <a:solidFill>
              <a:srgbClr val="64748B"/>
            </a:solidFill>
            <a:prstDash val="solid"/>
          </a:ln>
        </p:spPr>
      </p:sp>
      <p:sp>
        <p:nvSpPr>
          <p:cNvPr id="14" name="Shape 12"/>
          <p:cNvSpPr/>
          <p:nvPr/>
        </p:nvSpPr>
        <p:spPr>
          <a:xfrm>
            <a:off x="4462272" y="3246120"/>
            <a:ext cx="219456" cy="246888"/>
          </a:xfrm>
          <a:prstGeom prst="rect">
            <a:avLst/>
          </a:prstGeom>
          <a:solidFill>
            <a:srgbClr val="64748B"/>
          </a:solidFill>
          <a:ln w="12700">
            <a:solidFill>
              <a:srgbClr val="64748B"/>
            </a:solidFill>
            <a:prstDash val="solid"/>
          </a:ln>
        </p:spPr>
      </p:sp>
      <p:sp>
        <p:nvSpPr>
          <p:cNvPr id="15" name="Shape 13"/>
          <p:cNvSpPr/>
          <p:nvPr/>
        </p:nvSpPr>
        <p:spPr>
          <a:xfrm>
            <a:off x="45720" y="1737360"/>
            <a:ext cx="1325880" cy="457200"/>
          </a:xfrm>
          <a:prstGeom prst="rect">
            <a:avLst/>
          </a:prstGeom>
          <a:solidFill>
            <a:srgbClr val="E0F2FE"/>
          </a:solidFill>
          <a:ln w="12700">
            <a:solidFill>
              <a:srgbClr val="028090"/>
            </a:solidFill>
            <a:prstDash val="solid"/>
          </a:ln>
        </p:spPr>
      </p:sp>
      <p:sp>
        <p:nvSpPr>
          <p:cNvPr id="16" name="Text 14"/>
          <p:cNvSpPr/>
          <p:nvPr/>
        </p:nvSpPr>
        <p:spPr>
          <a:xfrm>
            <a:off x="45720" y="1737360"/>
            <a:ext cx="1325880" cy="457200"/>
          </a:xfrm>
          <a:prstGeom prst="rect">
            <a:avLst/>
          </a:prstGeom>
          <a:noFill/>
          <a:ln/>
        </p:spPr>
        <p:txBody>
          <a:bodyPr wrap="square" lIns="0" tIns="0" rIns="0" bIns="0" rtlCol="0" anchor="ctr"/>
          <a:lstStyle/>
          <a:p>
            <a:pPr algn="ctr" indent="0" marL="0">
              <a:buNone/>
            </a:pPr>
            <a:r>
              <a:rPr lang="en-US" sz="1100" b="1" dirty="0">
                <a:solidFill>
                  <a:srgbClr val="065A82"/>
                </a:solidFill>
              </a:rPr>
              <a:t>Customer</a:t>
            </a:r>
            <a:endParaRPr lang="en-US" sz="1100" dirty="0"/>
          </a:p>
        </p:txBody>
      </p:sp>
      <p:sp>
        <p:nvSpPr>
          <p:cNvPr id="17" name="Shape 15"/>
          <p:cNvSpPr/>
          <p:nvPr/>
        </p:nvSpPr>
        <p:spPr>
          <a:xfrm>
            <a:off x="45720" y="2514600"/>
            <a:ext cx="1325880" cy="457200"/>
          </a:xfrm>
          <a:prstGeom prst="rect">
            <a:avLst/>
          </a:prstGeom>
          <a:solidFill>
            <a:srgbClr val="E0F2FE"/>
          </a:solidFill>
          <a:ln w="12700">
            <a:solidFill>
              <a:srgbClr val="028090"/>
            </a:solidFill>
            <a:prstDash val="solid"/>
          </a:ln>
        </p:spPr>
      </p:sp>
      <p:sp>
        <p:nvSpPr>
          <p:cNvPr id="18" name="Text 16"/>
          <p:cNvSpPr/>
          <p:nvPr/>
        </p:nvSpPr>
        <p:spPr>
          <a:xfrm>
            <a:off x="45720" y="2514600"/>
            <a:ext cx="1325880" cy="457200"/>
          </a:xfrm>
          <a:prstGeom prst="rect">
            <a:avLst/>
          </a:prstGeom>
          <a:noFill/>
          <a:ln/>
        </p:spPr>
        <p:txBody>
          <a:bodyPr wrap="square" lIns="0" tIns="0" rIns="0" bIns="0" rtlCol="0" anchor="ctr"/>
          <a:lstStyle/>
          <a:p>
            <a:pPr algn="ctr" indent="0" marL="0">
              <a:buNone/>
            </a:pPr>
            <a:r>
              <a:rPr lang="en-US" sz="1100" b="1" dirty="0">
                <a:solidFill>
                  <a:srgbClr val="065A82"/>
                </a:solidFill>
              </a:rPr>
              <a:t>Pharmacist</a:t>
            </a:r>
            <a:endParaRPr lang="en-US" sz="1100" dirty="0"/>
          </a:p>
        </p:txBody>
      </p:sp>
      <p:sp>
        <p:nvSpPr>
          <p:cNvPr id="19" name="Shape 17"/>
          <p:cNvSpPr/>
          <p:nvPr/>
        </p:nvSpPr>
        <p:spPr>
          <a:xfrm>
            <a:off x="7863840" y="2011680"/>
            <a:ext cx="1325880" cy="457200"/>
          </a:xfrm>
          <a:prstGeom prst="rect">
            <a:avLst/>
          </a:prstGeom>
          <a:solidFill>
            <a:srgbClr val="E0F2FE"/>
          </a:solidFill>
          <a:ln w="12700">
            <a:solidFill>
              <a:srgbClr val="028090"/>
            </a:solidFill>
            <a:prstDash val="solid"/>
          </a:ln>
        </p:spPr>
      </p:sp>
      <p:sp>
        <p:nvSpPr>
          <p:cNvPr id="20" name="Text 18"/>
          <p:cNvSpPr/>
          <p:nvPr/>
        </p:nvSpPr>
        <p:spPr>
          <a:xfrm>
            <a:off x="7863840" y="2011680"/>
            <a:ext cx="1325880" cy="457200"/>
          </a:xfrm>
          <a:prstGeom prst="rect">
            <a:avLst/>
          </a:prstGeom>
          <a:noFill/>
          <a:ln/>
        </p:spPr>
        <p:txBody>
          <a:bodyPr wrap="square" lIns="0" tIns="0" rIns="0" bIns="0" rtlCol="0" anchor="ctr"/>
          <a:lstStyle/>
          <a:p>
            <a:pPr algn="ctr" indent="0" marL="0">
              <a:buNone/>
            </a:pPr>
            <a:r>
              <a:rPr lang="en-US" sz="1100" b="1" dirty="0">
                <a:solidFill>
                  <a:srgbClr val="065A82"/>
                </a:solidFill>
              </a:rPr>
              <a:t>Admin</a:t>
            </a:r>
            <a:endParaRPr lang="en-US" sz="1100" dirty="0"/>
          </a:p>
        </p:txBody>
      </p:sp>
      <p:sp>
        <p:nvSpPr>
          <p:cNvPr id="21" name="Text 19"/>
          <p:cNvSpPr/>
          <p:nvPr/>
        </p:nvSpPr>
        <p:spPr>
          <a:xfrm>
            <a:off x="457200" y="4617720"/>
            <a:ext cx="8229600" cy="347472"/>
          </a:xfrm>
          <a:prstGeom prst="rect">
            <a:avLst/>
          </a:prstGeom>
          <a:noFill/>
          <a:ln/>
        </p:spPr>
        <p:txBody>
          <a:bodyPr wrap="square" rtlCol="0" anchor="ctr"/>
          <a:lstStyle/>
          <a:p>
            <a:pPr algn="ctr" indent="0" marL="0">
              <a:buNone/>
            </a:pPr>
            <a:r>
              <a:rPr lang="en-US" sz="1150" i="1" dirty="0">
                <a:solidFill>
                  <a:srgbClr val="64748B"/>
                </a:solidFill>
              </a:rPr>
              <a:t>MVC Pattern — Node.js handles business logic, MongoDB stores data, EJS renders views.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65A82"/>
          </a:solidFill>
          <a:ln w="12700">
            <a:solidFill>
              <a:srgbClr val="065A82"/>
            </a:solidFill>
            <a:prstDash val="solid"/>
          </a:ln>
        </p:spPr>
      </p:sp>
      <p:sp>
        <p:nvSpPr>
          <p:cNvPr id="3" name="Text 1"/>
          <p:cNvSpPr/>
          <p:nvPr/>
        </p:nvSpPr>
        <p:spPr>
          <a:xfrm>
            <a:off x="457200" y="91440"/>
            <a:ext cx="822960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Key Features</a:t>
            </a:r>
            <a:endParaRPr lang="en-US" sz="3000" dirty="0"/>
          </a:p>
        </p:txBody>
      </p:sp>
      <p:sp>
        <p:nvSpPr>
          <p:cNvPr id="4" name="Shape 2"/>
          <p:cNvSpPr/>
          <p:nvPr/>
        </p:nvSpPr>
        <p:spPr>
          <a:xfrm>
            <a:off x="228600" y="1188720"/>
            <a:ext cx="2743200" cy="1645920"/>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411480" y="1353312"/>
            <a:ext cx="658368" cy="658368"/>
          </a:xfrm>
          <a:prstGeom prst="ellipse">
            <a:avLst/>
          </a:prstGeom>
          <a:solidFill>
            <a:srgbClr val="028090"/>
          </a:solidFill>
          <a:ln w="12700">
            <a:solidFill>
              <a:srgbClr val="028090"/>
            </a:solidFill>
            <a:prstDash val="solid"/>
          </a:ln>
        </p:spPr>
      </p:sp>
      <p:sp>
        <p:nvSpPr>
          <p:cNvPr id="6" name="Text 4"/>
          <p:cNvSpPr/>
          <p:nvPr/>
        </p:nvSpPr>
        <p:spPr>
          <a:xfrm>
            <a:off x="411480" y="1353312"/>
            <a:ext cx="65836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338328" y="2103120"/>
            <a:ext cx="2523744" cy="347472"/>
          </a:xfrm>
          <a:prstGeom prst="rect">
            <a:avLst/>
          </a:prstGeom>
          <a:noFill/>
          <a:ln/>
        </p:spPr>
        <p:txBody>
          <a:bodyPr wrap="square" rtlCol="0" anchor="ctr"/>
          <a:lstStyle/>
          <a:p>
            <a:pPr algn="ctr" indent="0" marL="0">
              <a:buNone/>
            </a:pPr>
            <a:r>
              <a:rPr lang="en-US" sz="1200" b="1" dirty="0">
                <a:solidFill>
                  <a:srgbClr val="065A82"/>
                </a:solidFill>
              </a:rPr>
              <a:t>Medicine Search &amp; Browse</a:t>
            </a:r>
            <a:endParaRPr lang="en-US" sz="1200" dirty="0"/>
          </a:p>
        </p:txBody>
      </p:sp>
      <p:sp>
        <p:nvSpPr>
          <p:cNvPr id="8" name="Text 6"/>
          <p:cNvSpPr/>
          <p:nvPr/>
        </p:nvSpPr>
        <p:spPr>
          <a:xfrm>
            <a:off x="338328" y="2468880"/>
            <a:ext cx="2523744" cy="292608"/>
          </a:xfrm>
          <a:prstGeom prst="rect">
            <a:avLst/>
          </a:prstGeom>
          <a:noFill/>
          <a:ln/>
        </p:spPr>
        <p:txBody>
          <a:bodyPr wrap="square" rtlCol="0" anchor="ctr"/>
          <a:lstStyle/>
          <a:p>
            <a:pPr algn="ctr" indent="0" marL="0">
              <a:buNone/>
            </a:pPr>
            <a:r>
              <a:rPr lang="en-US" sz="1050" dirty="0">
                <a:solidFill>
                  <a:srgbClr val="64748B"/>
                </a:solidFill>
              </a:rPr>
              <a:t>Search by name or category, view details, price &amp; availability</a:t>
            </a:r>
            <a:endParaRPr lang="en-US" sz="1050" dirty="0"/>
          </a:p>
        </p:txBody>
      </p:sp>
      <p:sp>
        <p:nvSpPr>
          <p:cNvPr id="9" name="Shape 7"/>
          <p:cNvSpPr/>
          <p:nvPr/>
        </p:nvSpPr>
        <p:spPr>
          <a:xfrm>
            <a:off x="3154680" y="1188720"/>
            <a:ext cx="2743200" cy="1645920"/>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337560" y="1353312"/>
            <a:ext cx="658368" cy="658368"/>
          </a:xfrm>
          <a:prstGeom prst="ellipse">
            <a:avLst/>
          </a:prstGeom>
          <a:solidFill>
            <a:srgbClr val="028090"/>
          </a:solidFill>
          <a:ln w="12700">
            <a:solidFill>
              <a:srgbClr val="028090"/>
            </a:solidFill>
            <a:prstDash val="solid"/>
          </a:ln>
        </p:spPr>
      </p:sp>
      <p:sp>
        <p:nvSpPr>
          <p:cNvPr id="11" name="Text 9"/>
          <p:cNvSpPr/>
          <p:nvPr/>
        </p:nvSpPr>
        <p:spPr>
          <a:xfrm>
            <a:off x="3337560" y="1353312"/>
            <a:ext cx="65836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2" name="Text 10"/>
          <p:cNvSpPr/>
          <p:nvPr/>
        </p:nvSpPr>
        <p:spPr>
          <a:xfrm>
            <a:off x="3264408" y="2103120"/>
            <a:ext cx="2523744" cy="347472"/>
          </a:xfrm>
          <a:prstGeom prst="rect">
            <a:avLst/>
          </a:prstGeom>
          <a:noFill/>
          <a:ln/>
        </p:spPr>
        <p:txBody>
          <a:bodyPr wrap="square" rtlCol="0" anchor="ctr"/>
          <a:lstStyle/>
          <a:p>
            <a:pPr algn="ctr" indent="0" marL="0">
              <a:buNone/>
            </a:pPr>
            <a:r>
              <a:rPr lang="en-US" sz="1200" b="1" dirty="0">
                <a:solidFill>
                  <a:srgbClr val="065A82"/>
                </a:solidFill>
              </a:rPr>
              <a:t>Order Placement (Pickup)</a:t>
            </a:r>
            <a:endParaRPr lang="en-US" sz="1200" dirty="0"/>
          </a:p>
        </p:txBody>
      </p:sp>
      <p:sp>
        <p:nvSpPr>
          <p:cNvPr id="13" name="Text 11"/>
          <p:cNvSpPr/>
          <p:nvPr/>
        </p:nvSpPr>
        <p:spPr>
          <a:xfrm>
            <a:off x="3264408" y="2468880"/>
            <a:ext cx="2523744" cy="292608"/>
          </a:xfrm>
          <a:prstGeom prst="rect">
            <a:avLst/>
          </a:prstGeom>
          <a:noFill/>
          <a:ln/>
        </p:spPr>
        <p:txBody>
          <a:bodyPr wrap="square" rtlCol="0" anchor="ctr"/>
          <a:lstStyle/>
          <a:p>
            <a:pPr algn="ctr" indent="0" marL="0">
              <a:buNone/>
            </a:pPr>
            <a:r>
              <a:rPr lang="en-US" sz="1050" dirty="0">
                <a:solidFill>
                  <a:srgbClr val="64748B"/>
                </a:solidFill>
              </a:rPr>
              <a:t>Place orders online, collect medicines from store</a:t>
            </a:r>
            <a:endParaRPr lang="en-US" sz="1050" dirty="0"/>
          </a:p>
        </p:txBody>
      </p:sp>
      <p:sp>
        <p:nvSpPr>
          <p:cNvPr id="14" name="Shape 12"/>
          <p:cNvSpPr/>
          <p:nvPr/>
        </p:nvSpPr>
        <p:spPr>
          <a:xfrm>
            <a:off x="6080760" y="1188720"/>
            <a:ext cx="2743200" cy="1645920"/>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6263640" y="1353312"/>
            <a:ext cx="658368" cy="658368"/>
          </a:xfrm>
          <a:prstGeom prst="ellipse">
            <a:avLst/>
          </a:prstGeom>
          <a:solidFill>
            <a:srgbClr val="028090"/>
          </a:solidFill>
          <a:ln w="12700">
            <a:solidFill>
              <a:srgbClr val="028090"/>
            </a:solidFill>
            <a:prstDash val="solid"/>
          </a:ln>
        </p:spPr>
      </p:sp>
      <p:sp>
        <p:nvSpPr>
          <p:cNvPr id="16" name="Text 14"/>
          <p:cNvSpPr/>
          <p:nvPr/>
        </p:nvSpPr>
        <p:spPr>
          <a:xfrm>
            <a:off x="6263640" y="1353312"/>
            <a:ext cx="65836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6190488" y="2103120"/>
            <a:ext cx="2523744" cy="347472"/>
          </a:xfrm>
          <a:prstGeom prst="rect">
            <a:avLst/>
          </a:prstGeom>
          <a:noFill/>
          <a:ln/>
        </p:spPr>
        <p:txBody>
          <a:bodyPr wrap="square" rtlCol="0" anchor="ctr"/>
          <a:lstStyle/>
          <a:p>
            <a:pPr algn="ctr" indent="0" marL="0">
              <a:buNone/>
            </a:pPr>
            <a:r>
              <a:rPr lang="en-US" sz="1200" b="1" dirty="0">
                <a:solidFill>
                  <a:srgbClr val="065A82"/>
                </a:solidFill>
              </a:rPr>
              <a:t>Prescription Upload</a:t>
            </a:r>
            <a:endParaRPr lang="en-US" sz="1200" dirty="0"/>
          </a:p>
        </p:txBody>
      </p:sp>
      <p:sp>
        <p:nvSpPr>
          <p:cNvPr id="18" name="Text 16"/>
          <p:cNvSpPr/>
          <p:nvPr/>
        </p:nvSpPr>
        <p:spPr>
          <a:xfrm>
            <a:off x="6190488" y="2468880"/>
            <a:ext cx="2523744" cy="292608"/>
          </a:xfrm>
          <a:prstGeom prst="rect">
            <a:avLst/>
          </a:prstGeom>
          <a:noFill/>
          <a:ln/>
        </p:spPr>
        <p:txBody>
          <a:bodyPr wrap="square" rtlCol="0" anchor="ctr"/>
          <a:lstStyle/>
          <a:p>
            <a:pPr algn="ctr" indent="0" marL="0">
              <a:buNone/>
            </a:pPr>
            <a:r>
              <a:rPr lang="en-US" sz="1050" dirty="0">
                <a:solidFill>
                  <a:srgbClr val="64748B"/>
                </a:solidFill>
              </a:rPr>
              <a:t>Customer uploads prescription image for pharmacist review</a:t>
            </a:r>
            <a:endParaRPr lang="en-US" sz="1050" dirty="0"/>
          </a:p>
        </p:txBody>
      </p:sp>
      <p:sp>
        <p:nvSpPr>
          <p:cNvPr id="19" name="Shape 17"/>
          <p:cNvSpPr/>
          <p:nvPr/>
        </p:nvSpPr>
        <p:spPr>
          <a:xfrm>
            <a:off x="228600" y="3063240"/>
            <a:ext cx="2743200" cy="1645920"/>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11480" y="3227832"/>
            <a:ext cx="658368" cy="658368"/>
          </a:xfrm>
          <a:prstGeom prst="ellipse">
            <a:avLst/>
          </a:prstGeom>
          <a:solidFill>
            <a:srgbClr val="028090"/>
          </a:solidFill>
          <a:ln w="12700">
            <a:solidFill>
              <a:srgbClr val="028090"/>
            </a:solidFill>
            <a:prstDash val="solid"/>
          </a:ln>
        </p:spPr>
      </p:sp>
      <p:sp>
        <p:nvSpPr>
          <p:cNvPr id="21" name="Text 19"/>
          <p:cNvSpPr/>
          <p:nvPr/>
        </p:nvSpPr>
        <p:spPr>
          <a:xfrm>
            <a:off x="411480" y="3227832"/>
            <a:ext cx="65836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338328" y="3977640"/>
            <a:ext cx="2523744" cy="347472"/>
          </a:xfrm>
          <a:prstGeom prst="rect">
            <a:avLst/>
          </a:prstGeom>
          <a:noFill/>
          <a:ln/>
        </p:spPr>
        <p:txBody>
          <a:bodyPr wrap="square" rtlCol="0" anchor="ctr"/>
          <a:lstStyle/>
          <a:p>
            <a:pPr algn="ctr" indent="0" marL="0">
              <a:buNone/>
            </a:pPr>
            <a:r>
              <a:rPr lang="en-US" sz="1200" b="1" dirty="0">
                <a:solidFill>
                  <a:srgbClr val="065A82"/>
                </a:solidFill>
              </a:rPr>
              <a:t>Prescription Verification</a:t>
            </a:r>
            <a:endParaRPr lang="en-US" sz="1200" dirty="0"/>
          </a:p>
        </p:txBody>
      </p:sp>
      <p:sp>
        <p:nvSpPr>
          <p:cNvPr id="23" name="Text 21"/>
          <p:cNvSpPr/>
          <p:nvPr/>
        </p:nvSpPr>
        <p:spPr>
          <a:xfrm>
            <a:off x="338328" y="4343400"/>
            <a:ext cx="2523744" cy="292608"/>
          </a:xfrm>
          <a:prstGeom prst="rect">
            <a:avLst/>
          </a:prstGeom>
          <a:noFill/>
          <a:ln/>
        </p:spPr>
        <p:txBody>
          <a:bodyPr wrap="square" rtlCol="0" anchor="ctr"/>
          <a:lstStyle/>
          <a:p>
            <a:pPr algn="ctr" indent="0" marL="0">
              <a:buNone/>
            </a:pPr>
            <a:r>
              <a:rPr lang="en-US" sz="1050" dirty="0">
                <a:solidFill>
                  <a:srgbClr val="64748B"/>
                </a:solidFill>
              </a:rPr>
              <a:t>Pharmacist reviews and approves/rejects uploaded prescriptions</a:t>
            </a:r>
            <a:endParaRPr lang="en-US" sz="1050" dirty="0"/>
          </a:p>
        </p:txBody>
      </p:sp>
      <p:sp>
        <p:nvSpPr>
          <p:cNvPr id="24" name="Shape 22"/>
          <p:cNvSpPr/>
          <p:nvPr/>
        </p:nvSpPr>
        <p:spPr>
          <a:xfrm>
            <a:off x="3154680" y="3063240"/>
            <a:ext cx="2743200" cy="1645920"/>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3337560" y="3227832"/>
            <a:ext cx="658368" cy="658368"/>
          </a:xfrm>
          <a:prstGeom prst="ellipse">
            <a:avLst/>
          </a:prstGeom>
          <a:solidFill>
            <a:srgbClr val="028090"/>
          </a:solidFill>
          <a:ln w="12700">
            <a:solidFill>
              <a:srgbClr val="028090"/>
            </a:solidFill>
            <a:prstDash val="solid"/>
          </a:ln>
        </p:spPr>
      </p:sp>
      <p:sp>
        <p:nvSpPr>
          <p:cNvPr id="26" name="Text 24"/>
          <p:cNvSpPr/>
          <p:nvPr/>
        </p:nvSpPr>
        <p:spPr>
          <a:xfrm>
            <a:off x="3337560" y="3227832"/>
            <a:ext cx="65836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3264408" y="3977640"/>
            <a:ext cx="2523744" cy="347472"/>
          </a:xfrm>
          <a:prstGeom prst="rect">
            <a:avLst/>
          </a:prstGeom>
          <a:noFill/>
          <a:ln/>
        </p:spPr>
        <p:txBody>
          <a:bodyPr wrap="square" rtlCol="0" anchor="ctr"/>
          <a:lstStyle/>
          <a:p>
            <a:pPr algn="ctr" indent="0" marL="0">
              <a:buNone/>
            </a:pPr>
            <a:r>
              <a:rPr lang="en-US" sz="1200" b="1" dirty="0">
                <a:solidFill>
                  <a:srgbClr val="065A82"/>
                </a:solidFill>
              </a:rPr>
              <a:t>Admin Dashboard</a:t>
            </a:r>
            <a:endParaRPr lang="en-US" sz="1200" dirty="0"/>
          </a:p>
        </p:txBody>
      </p:sp>
      <p:sp>
        <p:nvSpPr>
          <p:cNvPr id="28" name="Text 26"/>
          <p:cNvSpPr/>
          <p:nvPr/>
        </p:nvSpPr>
        <p:spPr>
          <a:xfrm>
            <a:off x="3264408" y="4343400"/>
            <a:ext cx="2523744" cy="292608"/>
          </a:xfrm>
          <a:prstGeom prst="rect">
            <a:avLst/>
          </a:prstGeom>
          <a:noFill/>
          <a:ln/>
        </p:spPr>
        <p:txBody>
          <a:bodyPr wrap="square" rtlCol="0" anchor="ctr"/>
          <a:lstStyle/>
          <a:p>
            <a:pPr algn="ctr" indent="0" marL="0">
              <a:buNone/>
            </a:pPr>
            <a:r>
              <a:rPr lang="en-US" sz="1050" dirty="0">
                <a:solidFill>
                  <a:srgbClr val="64748B"/>
                </a:solidFill>
              </a:rPr>
              <a:t>Manage medicines, users, view all orders &amp; generate reports</a:t>
            </a:r>
            <a:endParaRPr lang="en-US" sz="1050" dirty="0"/>
          </a:p>
        </p:txBody>
      </p:sp>
      <p:sp>
        <p:nvSpPr>
          <p:cNvPr id="29" name="Shape 27"/>
          <p:cNvSpPr/>
          <p:nvPr/>
        </p:nvSpPr>
        <p:spPr>
          <a:xfrm>
            <a:off x="6080760" y="3063240"/>
            <a:ext cx="2743200" cy="1645920"/>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6263640" y="3227832"/>
            <a:ext cx="658368" cy="658368"/>
          </a:xfrm>
          <a:prstGeom prst="ellipse">
            <a:avLst/>
          </a:prstGeom>
          <a:solidFill>
            <a:srgbClr val="028090"/>
          </a:solidFill>
          <a:ln w="12700">
            <a:solidFill>
              <a:srgbClr val="028090"/>
            </a:solidFill>
            <a:prstDash val="solid"/>
          </a:ln>
        </p:spPr>
      </p:sp>
      <p:sp>
        <p:nvSpPr>
          <p:cNvPr id="31" name="Text 29"/>
          <p:cNvSpPr/>
          <p:nvPr/>
        </p:nvSpPr>
        <p:spPr>
          <a:xfrm>
            <a:off x="6263640" y="3227832"/>
            <a:ext cx="658368" cy="65836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ext 30"/>
          <p:cNvSpPr/>
          <p:nvPr/>
        </p:nvSpPr>
        <p:spPr>
          <a:xfrm>
            <a:off x="6190488" y="3977640"/>
            <a:ext cx="2523744" cy="347472"/>
          </a:xfrm>
          <a:prstGeom prst="rect">
            <a:avLst/>
          </a:prstGeom>
          <a:noFill/>
          <a:ln/>
        </p:spPr>
        <p:txBody>
          <a:bodyPr wrap="square" rtlCol="0" anchor="ctr"/>
          <a:lstStyle/>
          <a:p>
            <a:pPr algn="ctr" indent="0" marL="0">
              <a:buNone/>
            </a:pPr>
            <a:r>
              <a:rPr lang="en-US" sz="1200" b="1" dirty="0">
                <a:solidFill>
                  <a:srgbClr val="065A82"/>
                </a:solidFill>
              </a:rPr>
              <a:t>Pharmacist Panel</a:t>
            </a:r>
            <a:endParaRPr lang="en-US" sz="1200" dirty="0"/>
          </a:p>
        </p:txBody>
      </p:sp>
      <p:sp>
        <p:nvSpPr>
          <p:cNvPr id="33" name="Text 31"/>
          <p:cNvSpPr/>
          <p:nvPr/>
        </p:nvSpPr>
        <p:spPr>
          <a:xfrm>
            <a:off x="6190488" y="4343400"/>
            <a:ext cx="2523744" cy="292608"/>
          </a:xfrm>
          <a:prstGeom prst="rect">
            <a:avLst/>
          </a:prstGeom>
          <a:noFill/>
          <a:ln/>
        </p:spPr>
        <p:txBody>
          <a:bodyPr wrap="square" rtlCol="0" anchor="ctr"/>
          <a:lstStyle/>
          <a:p>
            <a:pPr algn="ctr" indent="0" marL="0">
              <a:buNone/>
            </a:pPr>
            <a:r>
              <a:rPr lang="en-US" sz="1050" dirty="0">
                <a:solidFill>
                  <a:srgbClr val="64748B"/>
                </a:solidFill>
              </a:rPr>
              <a:t>Process orders, verify prescriptions, update order status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65A82"/>
          </a:solidFill>
          <a:ln w="12700">
            <a:solidFill>
              <a:srgbClr val="065A82"/>
            </a:solidFill>
            <a:prstDash val="solid"/>
          </a:ln>
        </p:spPr>
      </p:sp>
      <p:sp>
        <p:nvSpPr>
          <p:cNvPr id="3" name="Text 1"/>
          <p:cNvSpPr/>
          <p:nvPr/>
        </p:nvSpPr>
        <p:spPr>
          <a:xfrm>
            <a:off x="457200" y="91440"/>
            <a:ext cx="822960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Technology Stack</a:t>
            </a:r>
            <a:endParaRPr lang="en-US" sz="3000" dirty="0"/>
          </a:p>
        </p:txBody>
      </p:sp>
      <p:sp>
        <p:nvSpPr>
          <p:cNvPr id="4" name="Shape 2"/>
          <p:cNvSpPr/>
          <p:nvPr/>
        </p:nvSpPr>
        <p:spPr>
          <a:xfrm>
            <a:off x="182880" y="1143000"/>
            <a:ext cx="2011680" cy="475488"/>
          </a:xfrm>
          <a:prstGeom prst="rect">
            <a:avLst/>
          </a:prstGeom>
          <a:solidFill>
            <a:srgbClr val="02C39A"/>
          </a:solidFill>
          <a:ln w="12700">
            <a:solidFill>
              <a:srgbClr val="02C39A"/>
            </a:solidFill>
            <a:prstDash val="solid"/>
          </a:ln>
        </p:spPr>
      </p:sp>
      <p:sp>
        <p:nvSpPr>
          <p:cNvPr id="5" name="Text 3"/>
          <p:cNvSpPr/>
          <p:nvPr/>
        </p:nvSpPr>
        <p:spPr>
          <a:xfrm>
            <a:off x="182880" y="1143000"/>
            <a:ext cx="2011680" cy="475488"/>
          </a:xfrm>
          <a:prstGeom prst="rect">
            <a:avLst/>
          </a:prstGeom>
          <a:noFill/>
          <a:ln/>
        </p:spPr>
        <p:txBody>
          <a:bodyPr wrap="square" lIns="0" tIns="0" rIns="0" bIns="0" rtlCol="0" anchor="ctr"/>
          <a:lstStyle/>
          <a:p>
            <a:pPr algn="ctr" indent="0" marL="0">
              <a:buNone/>
            </a:pPr>
            <a:r>
              <a:rPr lang="en-US" sz="1300" b="1" dirty="0">
                <a:solidFill>
                  <a:srgbClr val="FFFFFF"/>
                </a:solidFill>
              </a:rPr>
              <a:t>Frontend</a:t>
            </a:r>
            <a:endParaRPr lang="en-US" sz="1300" dirty="0"/>
          </a:p>
        </p:txBody>
      </p:sp>
      <p:sp>
        <p:nvSpPr>
          <p:cNvPr id="6" name="Shape 4"/>
          <p:cNvSpPr/>
          <p:nvPr/>
        </p:nvSpPr>
        <p:spPr>
          <a:xfrm>
            <a:off x="182880" y="1618488"/>
            <a:ext cx="2011680" cy="3337560"/>
          </a:xfrm>
          <a:prstGeom prst="rect">
            <a:avLst/>
          </a:prstGeom>
          <a:solidFill>
            <a:srgbClr val="F0F9FF"/>
          </a:solidFill>
          <a:ln w="12700">
            <a:solidFill>
              <a:srgbClr val="02C39A"/>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20040" y="1783080"/>
            <a:ext cx="1737360" cy="475488"/>
          </a:xfrm>
          <a:prstGeom prst="rect">
            <a:avLst/>
          </a:prstGeom>
          <a:solidFill>
            <a:srgbClr val="FFFFFF"/>
          </a:solidFill>
          <a:ln w="12700">
            <a:solidFill>
              <a:srgbClr val="02C39A"/>
            </a:solidFill>
            <a:prstDash val="solid"/>
          </a:ln>
        </p:spPr>
      </p:sp>
      <p:sp>
        <p:nvSpPr>
          <p:cNvPr id="8" name="Text 6"/>
          <p:cNvSpPr/>
          <p:nvPr/>
        </p:nvSpPr>
        <p:spPr>
          <a:xfrm>
            <a:off x="320040" y="1783080"/>
            <a:ext cx="1737360" cy="475488"/>
          </a:xfrm>
          <a:prstGeom prst="rect">
            <a:avLst/>
          </a:prstGeom>
          <a:noFill/>
          <a:ln/>
        </p:spPr>
        <p:txBody>
          <a:bodyPr wrap="square" rtlCol="0" anchor="ctr"/>
          <a:lstStyle/>
          <a:p>
            <a:pPr algn="ctr" indent="0" marL="0">
              <a:buNone/>
            </a:pPr>
            <a:r>
              <a:rPr lang="en-US" sz="1200" dirty="0">
                <a:solidFill>
                  <a:srgbClr val="1E293B"/>
                </a:solidFill>
              </a:rPr>
              <a:t>HTML5</a:t>
            </a:r>
            <a:endParaRPr lang="en-US" sz="1200" dirty="0"/>
          </a:p>
        </p:txBody>
      </p:sp>
      <p:sp>
        <p:nvSpPr>
          <p:cNvPr id="9" name="Shape 7"/>
          <p:cNvSpPr/>
          <p:nvPr/>
        </p:nvSpPr>
        <p:spPr>
          <a:xfrm>
            <a:off x="320040" y="2404872"/>
            <a:ext cx="1737360" cy="475488"/>
          </a:xfrm>
          <a:prstGeom prst="rect">
            <a:avLst/>
          </a:prstGeom>
          <a:solidFill>
            <a:srgbClr val="FFFFFF"/>
          </a:solidFill>
          <a:ln w="12700">
            <a:solidFill>
              <a:srgbClr val="02C39A"/>
            </a:solidFill>
            <a:prstDash val="solid"/>
          </a:ln>
        </p:spPr>
      </p:sp>
      <p:sp>
        <p:nvSpPr>
          <p:cNvPr id="10" name="Text 8"/>
          <p:cNvSpPr/>
          <p:nvPr/>
        </p:nvSpPr>
        <p:spPr>
          <a:xfrm>
            <a:off x="320040" y="2404872"/>
            <a:ext cx="1737360" cy="475488"/>
          </a:xfrm>
          <a:prstGeom prst="rect">
            <a:avLst/>
          </a:prstGeom>
          <a:noFill/>
          <a:ln/>
        </p:spPr>
        <p:txBody>
          <a:bodyPr wrap="square" rtlCol="0" anchor="ctr"/>
          <a:lstStyle/>
          <a:p>
            <a:pPr algn="ctr" indent="0" marL="0">
              <a:buNone/>
            </a:pPr>
            <a:r>
              <a:rPr lang="en-US" sz="1200" dirty="0">
                <a:solidFill>
                  <a:srgbClr val="1E293B"/>
                </a:solidFill>
              </a:rPr>
              <a:t>CSS3</a:t>
            </a:r>
            <a:endParaRPr lang="en-US" sz="1200" dirty="0"/>
          </a:p>
        </p:txBody>
      </p:sp>
      <p:sp>
        <p:nvSpPr>
          <p:cNvPr id="11" name="Shape 9"/>
          <p:cNvSpPr/>
          <p:nvPr/>
        </p:nvSpPr>
        <p:spPr>
          <a:xfrm>
            <a:off x="320040" y="3026664"/>
            <a:ext cx="1737360" cy="475488"/>
          </a:xfrm>
          <a:prstGeom prst="rect">
            <a:avLst/>
          </a:prstGeom>
          <a:solidFill>
            <a:srgbClr val="FFFFFF"/>
          </a:solidFill>
          <a:ln w="12700">
            <a:solidFill>
              <a:srgbClr val="02C39A"/>
            </a:solidFill>
            <a:prstDash val="solid"/>
          </a:ln>
        </p:spPr>
      </p:sp>
      <p:sp>
        <p:nvSpPr>
          <p:cNvPr id="12" name="Text 10"/>
          <p:cNvSpPr/>
          <p:nvPr/>
        </p:nvSpPr>
        <p:spPr>
          <a:xfrm>
            <a:off x="320040" y="3026664"/>
            <a:ext cx="1737360" cy="475488"/>
          </a:xfrm>
          <a:prstGeom prst="rect">
            <a:avLst/>
          </a:prstGeom>
          <a:noFill/>
          <a:ln/>
        </p:spPr>
        <p:txBody>
          <a:bodyPr wrap="square" rtlCol="0" anchor="ctr"/>
          <a:lstStyle/>
          <a:p>
            <a:pPr algn="ctr" indent="0" marL="0">
              <a:buNone/>
            </a:pPr>
            <a:r>
              <a:rPr lang="en-US" sz="1200" dirty="0">
                <a:solidFill>
                  <a:srgbClr val="1E293B"/>
                </a:solidFill>
              </a:rPr>
              <a:t>JavaScript</a:t>
            </a:r>
            <a:endParaRPr lang="en-US" sz="1200" dirty="0"/>
          </a:p>
        </p:txBody>
      </p:sp>
      <p:sp>
        <p:nvSpPr>
          <p:cNvPr id="13" name="Shape 11"/>
          <p:cNvSpPr/>
          <p:nvPr/>
        </p:nvSpPr>
        <p:spPr>
          <a:xfrm>
            <a:off x="320040" y="3648456"/>
            <a:ext cx="1737360" cy="475488"/>
          </a:xfrm>
          <a:prstGeom prst="rect">
            <a:avLst/>
          </a:prstGeom>
          <a:solidFill>
            <a:srgbClr val="FFFFFF"/>
          </a:solidFill>
          <a:ln w="12700">
            <a:solidFill>
              <a:srgbClr val="02C39A"/>
            </a:solidFill>
            <a:prstDash val="solid"/>
          </a:ln>
        </p:spPr>
      </p:sp>
      <p:sp>
        <p:nvSpPr>
          <p:cNvPr id="14" name="Text 12"/>
          <p:cNvSpPr/>
          <p:nvPr/>
        </p:nvSpPr>
        <p:spPr>
          <a:xfrm>
            <a:off x="320040" y="3648456"/>
            <a:ext cx="1737360" cy="475488"/>
          </a:xfrm>
          <a:prstGeom prst="rect">
            <a:avLst/>
          </a:prstGeom>
          <a:noFill/>
          <a:ln/>
        </p:spPr>
        <p:txBody>
          <a:bodyPr wrap="square" rtlCol="0" anchor="ctr"/>
          <a:lstStyle/>
          <a:p>
            <a:pPr algn="ctr" indent="0" marL="0">
              <a:buNone/>
            </a:pPr>
            <a:r>
              <a:rPr lang="en-US" sz="1200" dirty="0">
                <a:solidFill>
                  <a:srgbClr val="1E293B"/>
                </a:solidFill>
              </a:rPr>
              <a:t>EJS Templates</a:t>
            </a:r>
            <a:endParaRPr lang="en-US" sz="1200" dirty="0"/>
          </a:p>
        </p:txBody>
      </p:sp>
      <p:sp>
        <p:nvSpPr>
          <p:cNvPr id="15" name="Shape 13"/>
          <p:cNvSpPr/>
          <p:nvPr/>
        </p:nvSpPr>
        <p:spPr>
          <a:xfrm>
            <a:off x="320040" y="4270248"/>
            <a:ext cx="1737360" cy="475488"/>
          </a:xfrm>
          <a:prstGeom prst="rect">
            <a:avLst/>
          </a:prstGeom>
          <a:solidFill>
            <a:srgbClr val="FFFFFF"/>
          </a:solidFill>
          <a:ln w="12700">
            <a:solidFill>
              <a:srgbClr val="02C39A"/>
            </a:solidFill>
            <a:prstDash val="solid"/>
          </a:ln>
        </p:spPr>
      </p:sp>
      <p:sp>
        <p:nvSpPr>
          <p:cNvPr id="16" name="Text 14"/>
          <p:cNvSpPr/>
          <p:nvPr/>
        </p:nvSpPr>
        <p:spPr>
          <a:xfrm>
            <a:off x="320040" y="4270248"/>
            <a:ext cx="1737360" cy="475488"/>
          </a:xfrm>
          <a:prstGeom prst="rect">
            <a:avLst/>
          </a:prstGeom>
          <a:noFill/>
          <a:ln/>
        </p:spPr>
        <p:txBody>
          <a:bodyPr wrap="square" rtlCol="0" anchor="ctr"/>
          <a:lstStyle/>
          <a:p>
            <a:pPr algn="ctr" indent="0" marL="0">
              <a:buNone/>
            </a:pPr>
            <a:r>
              <a:rPr lang="en-US" sz="1200" dirty="0">
                <a:solidFill>
                  <a:srgbClr val="1E293B"/>
                </a:solidFill>
              </a:rPr>
              <a:t>Bootstrap 5</a:t>
            </a:r>
            <a:endParaRPr lang="en-US" sz="1200" dirty="0"/>
          </a:p>
        </p:txBody>
      </p:sp>
      <p:sp>
        <p:nvSpPr>
          <p:cNvPr id="17" name="Shape 15"/>
          <p:cNvSpPr/>
          <p:nvPr/>
        </p:nvSpPr>
        <p:spPr>
          <a:xfrm>
            <a:off x="2377440" y="1143000"/>
            <a:ext cx="2011680" cy="475488"/>
          </a:xfrm>
          <a:prstGeom prst="rect">
            <a:avLst/>
          </a:prstGeom>
          <a:solidFill>
            <a:srgbClr val="028090"/>
          </a:solidFill>
          <a:ln w="12700">
            <a:solidFill>
              <a:srgbClr val="028090"/>
            </a:solidFill>
            <a:prstDash val="solid"/>
          </a:ln>
        </p:spPr>
      </p:sp>
      <p:sp>
        <p:nvSpPr>
          <p:cNvPr id="18" name="Text 16"/>
          <p:cNvSpPr/>
          <p:nvPr/>
        </p:nvSpPr>
        <p:spPr>
          <a:xfrm>
            <a:off x="2377440" y="1143000"/>
            <a:ext cx="2011680" cy="475488"/>
          </a:xfrm>
          <a:prstGeom prst="rect">
            <a:avLst/>
          </a:prstGeom>
          <a:noFill/>
          <a:ln/>
        </p:spPr>
        <p:txBody>
          <a:bodyPr wrap="square" lIns="0" tIns="0" rIns="0" bIns="0" rtlCol="0" anchor="ctr"/>
          <a:lstStyle/>
          <a:p>
            <a:pPr algn="ctr" indent="0" marL="0">
              <a:buNone/>
            </a:pPr>
            <a:r>
              <a:rPr lang="en-US" sz="1300" b="1" dirty="0">
                <a:solidFill>
                  <a:srgbClr val="FFFFFF"/>
                </a:solidFill>
              </a:rPr>
              <a:t>Backend</a:t>
            </a:r>
            <a:endParaRPr lang="en-US" sz="1300" dirty="0"/>
          </a:p>
        </p:txBody>
      </p:sp>
      <p:sp>
        <p:nvSpPr>
          <p:cNvPr id="19" name="Shape 17"/>
          <p:cNvSpPr/>
          <p:nvPr/>
        </p:nvSpPr>
        <p:spPr>
          <a:xfrm>
            <a:off x="2377440" y="1618488"/>
            <a:ext cx="2011680" cy="3337560"/>
          </a:xfrm>
          <a:prstGeom prst="rect">
            <a:avLst/>
          </a:prstGeom>
          <a:solidFill>
            <a:srgbClr val="F0F9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2514600" y="1783080"/>
            <a:ext cx="1737360" cy="475488"/>
          </a:xfrm>
          <a:prstGeom prst="rect">
            <a:avLst/>
          </a:prstGeom>
          <a:solidFill>
            <a:srgbClr val="FFFFFF"/>
          </a:solidFill>
          <a:ln w="12700">
            <a:solidFill>
              <a:srgbClr val="028090"/>
            </a:solidFill>
            <a:prstDash val="solid"/>
          </a:ln>
        </p:spPr>
      </p:sp>
      <p:sp>
        <p:nvSpPr>
          <p:cNvPr id="21" name="Text 19"/>
          <p:cNvSpPr/>
          <p:nvPr/>
        </p:nvSpPr>
        <p:spPr>
          <a:xfrm>
            <a:off x="2514600" y="1783080"/>
            <a:ext cx="1737360" cy="475488"/>
          </a:xfrm>
          <a:prstGeom prst="rect">
            <a:avLst/>
          </a:prstGeom>
          <a:noFill/>
          <a:ln/>
        </p:spPr>
        <p:txBody>
          <a:bodyPr wrap="square" rtlCol="0" anchor="ctr"/>
          <a:lstStyle/>
          <a:p>
            <a:pPr algn="ctr" indent="0" marL="0">
              <a:buNone/>
            </a:pPr>
            <a:r>
              <a:rPr lang="en-US" sz="1200" dirty="0">
                <a:solidFill>
                  <a:srgbClr val="1E293B"/>
                </a:solidFill>
              </a:rPr>
              <a:t>Node.js</a:t>
            </a:r>
            <a:endParaRPr lang="en-US" sz="1200" dirty="0"/>
          </a:p>
        </p:txBody>
      </p:sp>
      <p:sp>
        <p:nvSpPr>
          <p:cNvPr id="22" name="Shape 20"/>
          <p:cNvSpPr/>
          <p:nvPr/>
        </p:nvSpPr>
        <p:spPr>
          <a:xfrm>
            <a:off x="2514600" y="2404872"/>
            <a:ext cx="1737360" cy="475488"/>
          </a:xfrm>
          <a:prstGeom prst="rect">
            <a:avLst/>
          </a:prstGeom>
          <a:solidFill>
            <a:srgbClr val="FFFFFF"/>
          </a:solidFill>
          <a:ln w="12700">
            <a:solidFill>
              <a:srgbClr val="028090"/>
            </a:solidFill>
            <a:prstDash val="solid"/>
          </a:ln>
        </p:spPr>
      </p:sp>
      <p:sp>
        <p:nvSpPr>
          <p:cNvPr id="23" name="Text 21"/>
          <p:cNvSpPr/>
          <p:nvPr/>
        </p:nvSpPr>
        <p:spPr>
          <a:xfrm>
            <a:off x="2514600" y="2404872"/>
            <a:ext cx="1737360" cy="475488"/>
          </a:xfrm>
          <a:prstGeom prst="rect">
            <a:avLst/>
          </a:prstGeom>
          <a:noFill/>
          <a:ln/>
        </p:spPr>
        <p:txBody>
          <a:bodyPr wrap="square" rtlCol="0" anchor="ctr"/>
          <a:lstStyle/>
          <a:p>
            <a:pPr algn="ctr" indent="0" marL="0">
              <a:buNone/>
            </a:pPr>
            <a:r>
              <a:rPr lang="en-US" sz="1200" dirty="0">
                <a:solidFill>
                  <a:srgbClr val="1E293B"/>
                </a:solidFill>
              </a:rPr>
              <a:t>Express.js</a:t>
            </a:r>
            <a:endParaRPr lang="en-US" sz="1200" dirty="0"/>
          </a:p>
        </p:txBody>
      </p:sp>
      <p:sp>
        <p:nvSpPr>
          <p:cNvPr id="24" name="Shape 22"/>
          <p:cNvSpPr/>
          <p:nvPr/>
        </p:nvSpPr>
        <p:spPr>
          <a:xfrm>
            <a:off x="2514600" y="3026664"/>
            <a:ext cx="1737360" cy="475488"/>
          </a:xfrm>
          <a:prstGeom prst="rect">
            <a:avLst/>
          </a:prstGeom>
          <a:solidFill>
            <a:srgbClr val="FFFFFF"/>
          </a:solidFill>
          <a:ln w="12700">
            <a:solidFill>
              <a:srgbClr val="028090"/>
            </a:solidFill>
            <a:prstDash val="solid"/>
          </a:ln>
        </p:spPr>
      </p:sp>
      <p:sp>
        <p:nvSpPr>
          <p:cNvPr id="25" name="Text 23"/>
          <p:cNvSpPr/>
          <p:nvPr/>
        </p:nvSpPr>
        <p:spPr>
          <a:xfrm>
            <a:off x="2514600" y="3026664"/>
            <a:ext cx="1737360" cy="475488"/>
          </a:xfrm>
          <a:prstGeom prst="rect">
            <a:avLst/>
          </a:prstGeom>
          <a:noFill/>
          <a:ln/>
        </p:spPr>
        <p:txBody>
          <a:bodyPr wrap="square" rtlCol="0" anchor="ctr"/>
          <a:lstStyle/>
          <a:p>
            <a:pPr algn="ctr" indent="0" marL="0">
              <a:buNone/>
            </a:pPr>
            <a:r>
              <a:rPr lang="en-US" sz="1200" dirty="0">
                <a:solidFill>
                  <a:srgbClr val="1E293B"/>
                </a:solidFill>
              </a:rPr>
              <a:t>REST API</a:t>
            </a:r>
            <a:endParaRPr lang="en-US" sz="1200" dirty="0"/>
          </a:p>
        </p:txBody>
      </p:sp>
      <p:sp>
        <p:nvSpPr>
          <p:cNvPr id="26" name="Shape 24"/>
          <p:cNvSpPr/>
          <p:nvPr/>
        </p:nvSpPr>
        <p:spPr>
          <a:xfrm>
            <a:off x="2514600" y="3648456"/>
            <a:ext cx="1737360" cy="475488"/>
          </a:xfrm>
          <a:prstGeom prst="rect">
            <a:avLst/>
          </a:prstGeom>
          <a:solidFill>
            <a:srgbClr val="FFFFFF"/>
          </a:solidFill>
          <a:ln w="12700">
            <a:solidFill>
              <a:srgbClr val="028090"/>
            </a:solidFill>
            <a:prstDash val="solid"/>
          </a:ln>
        </p:spPr>
      </p:sp>
      <p:sp>
        <p:nvSpPr>
          <p:cNvPr id="27" name="Text 25"/>
          <p:cNvSpPr/>
          <p:nvPr/>
        </p:nvSpPr>
        <p:spPr>
          <a:xfrm>
            <a:off x="2514600" y="3648456"/>
            <a:ext cx="1737360" cy="475488"/>
          </a:xfrm>
          <a:prstGeom prst="rect">
            <a:avLst/>
          </a:prstGeom>
          <a:noFill/>
          <a:ln/>
        </p:spPr>
        <p:txBody>
          <a:bodyPr wrap="square" rtlCol="0" anchor="ctr"/>
          <a:lstStyle/>
          <a:p>
            <a:pPr algn="ctr" indent="0" marL="0">
              <a:buNone/>
            </a:pPr>
            <a:r>
              <a:rPr lang="en-US" sz="1200" dirty="0">
                <a:solidFill>
                  <a:srgbClr val="1E293B"/>
                </a:solidFill>
              </a:rPr>
              <a:t>JWT Auth</a:t>
            </a:r>
            <a:endParaRPr lang="en-US" sz="1200" dirty="0"/>
          </a:p>
        </p:txBody>
      </p:sp>
      <p:sp>
        <p:nvSpPr>
          <p:cNvPr id="28" name="Shape 26"/>
          <p:cNvSpPr/>
          <p:nvPr/>
        </p:nvSpPr>
        <p:spPr>
          <a:xfrm>
            <a:off x="2514600" y="4270248"/>
            <a:ext cx="1737360" cy="475488"/>
          </a:xfrm>
          <a:prstGeom prst="rect">
            <a:avLst/>
          </a:prstGeom>
          <a:solidFill>
            <a:srgbClr val="FFFFFF"/>
          </a:solidFill>
          <a:ln w="12700">
            <a:solidFill>
              <a:srgbClr val="028090"/>
            </a:solidFill>
            <a:prstDash val="solid"/>
          </a:ln>
        </p:spPr>
      </p:sp>
      <p:sp>
        <p:nvSpPr>
          <p:cNvPr id="29" name="Text 27"/>
          <p:cNvSpPr/>
          <p:nvPr/>
        </p:nvSpPr>
        <p:spPr>
          <a:xfrm>
            <a:off x="2514600" y="4270248"/>
            <a:ext cx="1737360" cy="475488"/>
          </a:xfrm>
          <a:prstGeom prst="rect">
            <a:avLst/>
          </a:prstGeom>
          <a:noFill/>
          <a:ln/>
        </p:spPr>
        <p:txBody>
          <a:bodyPr wrap="square" rtlCol="0" anchor="ctr"/>
          <a:lstStyle/>
          <a:p>
            <a:pPr algn="ctr" indent="0" marL="0">
              <a:buNone/>
            </a:pPr>
            <a:r>
              <a:rPr lang="en-US" sz="1200" dirty="0">
                <a:solidFill>
                  <a:srgbClr val="1E293B"/>
                </a:solidFill>
              </a:rPr>
              <a:t>Bcrypt.js</a:t>
            </a:r>
            <a:endParaRPr lang="en-US" sz="1200" dirty="0"/>
          </a:p>
        </p:txBody>
      </p:sp>
      <p:sp>
        <p:nvSpPr>
          <p:cNvPr id="30" name="Shape 28"/>
          <p:cNvSpPr/>
          <p:nvPr/>
        </p:nvSpPr>
        <p:spPr>
          <a:xfrm>
            <a:off x="4572000" y="1143000"/>
            <a:ext cx="2011680" cy="475488"/>
          </a:xfrm>
          <a:prstGeom prst="rect">
            <a:avLst/>
          </a:prstGeom>
          <a:solidFill>
            <a:srgbClr val="065A82"/>
          </a:solidFill>
          <a:ln w="12700">
            <a:solidFill>
              <a:srgbClr val="065A82"/>
            </a:solidFill>
            <a:prstDash val="solid"/>
          </a:ln>
        </p:spPr>
      </p:sp>
      <p:sp>
        <p:nvSpPr>
          <p:cNvPr id="31" name="Text 29"/>
          <p:cNvSpPr/>
          <p:nvPr/>
        </p:nvSpPr>
        <p:spPr>
          <a:xfrm>
            <a:off x="4572000" y="1143000"/>
            <a:ext cx="2011680" cy="475488"/>
          </a:xfrm>
          <a:prstGeom prst="rect">
            <a:avLst/>
          </a:prstGeom>
          <a:noFill/>
          <a:ln/>
        </p:spPr>
        <p:txBody>
          <a:bodyPr wrap="square" lIns="0" tIns="0" rIns="0" bIns="0" rtlCol="0" anchor="ctr"/>
          <a:lstStyle/>
          <a:p>
            <a:pPr algn="ctr" indent="0" marL="0">
              <a:buNone/>
            </a:pPr>
            <a:r>
              <a:rPr lang="en-US" sz="1300" b="1" dirty="0">
                <a:solidFill>
                  <a:srgbClr val="FFFFFF"/>
                </a:solidFill>
              </a:rPr>
              <a:t>Database</a:t>
            </a:r>
            <a:endParaRPr lang="en-US" sz="1300" dirty="0"/>
          </a:p>
        </p:txBody>
      </p:sp>
      <p:sp>
        <p:nvSpPr>
          <p:cNvPr id="32" name="Shape 30"/>
          <p:cNvSpPr/>
          <p:nvPr/>
        </p:nvSpPr>
        <p:spPr>
          <a:xfrm>
            <a:off x="4572000" y="1618488"/>
            <a:ext cx="2011680" cy="3337560"/>
          </a:xfrm>
          <a:prstGeom prst="rect">
            <a:avLst/>
          </a:prstGeom>
          <a:solidFill>
            <a:srgbClr val="F0F9FF"/>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709160" y="1783080"/>
            <a:ext cx="1737360" cy="475488"/>
          </a:xfrm>
          <a:prstGeom prst="rect">
            <a:avLst/>
          </a:prstGeom>
          <a:solidFill>
            <a:srgbClr val="FFFFFF"/>
          </a:solidFill>
          <a:ln w="12700">
            <a:solidFill>
              <a:srgbClr val="065A82"/>
            </a:solidFill>
            <a:prstDash val="solid"/>
          </a:ln>
        </p:spPr>
      </p:sp>
      <p:sp>
        <p:nvSpPr>
          <p:cNvPr id="34" name="Text 32"/>
          <p:cNvSpPr/>
          <p:nvPr/>
        </p:nvSpPr>
        <p:spPr>
          <a:xfrm>
            <a:off x="4709160" y="1783080"/>
            <a:ext cx="1737360" cy="475488"/>
          </a:xfrm>
          <a:prstGeom prst="rect">
            <a:avLst/>
          </a:prstGeom>
          <a:noFill/>
          <a:ln/>
        </p:spPr>
        <p:txBody>
          <a:bodyPr wrap="square" rtlCol="0" anchor="ctr"/>
          <a:lstStyle/>
          <a:p>
            <a:pPr algn="ctr" indent="0" marL="0">
              <a:buNone/>
            </a:pPr>
            <a:r>
              <a:rPr lang="en-US" sz="1200" dirty="0">
                <a:solidFill>
                  <a:srgbClr val="1E293B"/>
                </a:solidFill>
              </a:rPr>
              <a:t>MongoDB</a:t>
            </a:r>
            <a:endParaRPr lang="en-US" sz="1200" dirty="0"/>
          </a:p>
        </p:txBody>
      </p:sp>
      <p:sp>
        <p:nvSpPr>
          <p:cNvPr id="35" name="Shape 33"/>
          <p:cNvSpPr/>
          <p:nvPr/>
        </p:nvSpPr>
        <p:spPr>
          <a:xfrm>
            <a:off x="4709160" y="2404872"/>
            <a:ext cx="1737360" cy="475488"/>
          </a:xfrm>
          <a:prstGeom prst="rect">
            <a:avLst/>
          </a:prstGeom>
          <a:solidFill>
            <a:srgbClr val="FFFFFF"/>
          </a:solidFill>
          <a:ln w="12700">
            <a:solidFill>
              <a:srgbClr val="065A82"/>
            </a:solidFill>
            <a:prstDash val="solid"/>
          </a:ln>
        </p:spPr>
      </p:sp>
      <p:sp>
        <p:nvSpPr>
          <p:cNvPr id="36" name="Text 34"/>
          <p:cNvSpPr/>
          <p:nvPr/>
        </p:nvSpPr>
        <p:spPr>
          <a:xfrm>
            <a:off x="4709160" y="2404872"/>
            <a:ext cx="1737360" cy="475488"/>
          </a:xfrm>
          <a:prstGeom prst="rect">
            <a:avLst/>
          </a:prstGeom>
          <a:noFill/>
          <a:ln/>
        </p:spPr>
        <p:txBody>
          <a:bodyPr wrap="square" rtlCol="0" anchor="ctr"/>
          <a:lstStyle/>
          <a:p>
            <a:pPr algn="ctr" indent="0" marL="0">
              <a:buNone/>
            </a:pPr>
            <a:r>
              <a:rPr lang="en-US" sz="1200" dirty="0">
                <a:solidFill>
                  <a:srgbClr val="1E293B"/>
                </a:solidFill>
              </a:rPr>
              <a:t>Mongoose ODM</a:t>
            </a:r>
            <a:endParaRPr lang="en-US" sz="1200" dirty="0"/>
          </a:p>
        </p:txBody>
      </p:sp>
      <p:sp>
        <p:nvSpPr>
          <p:cNvPr id="37" name="Shape 35"/>
          <p:cNvSpPr/>
          <p:nvPr/>
        </p:nvSpPr>
        <p:spPr>
          <a:xfrm>
            <a:off x="4709160" y="3026664"/>
            <a:ext cx="1737360" cy="475488"/>
          </a:xfrm>
          <a:prstGeom prst="rect">
            <a:avLst/>
          </a:prstGeom>
          <a:solidFill>
            <a:srgbClr val="FFFFFF"/>
          </a:solidFill>
          <a:ln w="12700">
            <a:solidFill>
              <a:srgbClr val="065A82"/>
            </a:solidFill>
            <a:prstDash val="solid"/>
          </a:ln>
        </p:spPr>
      </p:sp>
      <p:sp>
        <p:nvSpPr>
          <p:cNvPr id="38" name="Text 36"/>
          <p:cNvSpPr/>
          <p:nvPr/>
        </p:nvSpPr>
        <p:spPr>
          <a:xfrm>
            <a:off x="4709160" y="3026664"/>
            <a:ext cx="1737360" cy="475488"/>
          </a:xfrm>
          <a:prstGeom prst="rect">
            <a:avLst/>
          </a:prstGeom>
          <a:noFill/>
          <a:ln/>
        </p:spPr>
        <p:txBody>
          <a:bodyPr wrap="square" rtlCol="0" anchor="ctr"/>
          <a:lstStyle/>
          <a:p>
            <a:pPr algn="ctr" indent="0" marL="0">
              <a:buNone/>
            </a:pPr>
            <a:r>
              <a:rPr lang="en-US" sz="1200" dirty="0">
                <a:solidFill>
                  <a:srgbClr val="1E293B"/>
                </a:solidFill>
              </a:rPr>
              <a:t>Atlas / Local</a:t>
            </a:r>
            <a:endParaRPr lang="en-US" sz="1200" dirty="0"/>
          </a:p>
        </p:txBody>
      </p:sp>
      <p:sp>
        <p:nvSpPr>
          <p:cNvPr id="39" name="Shape 37"/>
          <p:cNvSpPr/>
          <p:nvPr/>
        </p:nvSpPr>
        <p:spPr>
          <a:xfrm>
            <a:off x="4709160" y="3648456"/>
            <a:ext cx="1737360" cy="475488"/>
          </a:xfrm>
          <a:prstGeom prst="rect">
            <a:avLst/>
          </a:prstGeom>
          <a:solidFill>
            <a:srgbClr val="FFFFFF"/>
          </a:solidFill>
          <a:ln w="12700">
            <a:solidFill>
              <a:srgbClr val="065A82"/>
            </a:solidFill>
            <a:prstDash val="solid"/>
          </a:ln>
        </p:spPr>
      </p:sp>
      <p:sp>
        <p:nvSpPr>
          <p:cNvPr id="40" name="Text 38"/>
          <p:cNvSpPr/>
          <p:nvPr/>
        </p:nvSpPr>
        <p:spPr>
          <a:xfrm>
            <a:off x="4709160" y="3648456"/>
            <a:ext cx="1737360" cy="475488"/>
          </a:xfrm>
          <a:prstGeom prst="rect">
            <a:avLst/>
          </a:prstGeom>
          <a:noFill/>
          <a:ln/>
        </p:spPr>
        <p:txBody>
          <a:bodyPr wrap="square" rtlCol="0" anchor="ctr"/>
          <a:lstStyle/>
          <a:p>
            <a:pPr algn="ctr" indent="0" marL="0">
              <a:buNone/>
            </a:pPr>
            <a:r>
              <a:rPr lang="en-US" sz="1200" dirty="0">
                <a:solidFill>
                  <a:srgbClr val="1E293B"/>
                </a:solidFill>
              </a:rPr>
              <a:t>Collections</a:t>
            </a:r>
            <a:endParaRPr lang="en-US" sz="1200" dirty="0"/>
          </a:p>
        </p:txBody>
      </p:sp>
      <p:sp>
        <p:nvSpPr>
          <p:cNvPr id="41" name="Shape 39"/>
          <p:cNvSpPr/>
          <p:nvPr/>
        </p:nvSpPr>
        <p:spPr>
          <a:xfrm>
            <a:off x="4709160" y="4270248"/>
            <a:ext cx="1737360" cy="475488"/>
          </a:xfrm>
          <a:prstGeom prst="rect">
            <a:avLst/>
          </a:prstGeom>
          <a:solidFill>
            <a:srgbClr val="FFFFFF"/>
          </a:solidFill>
          <a:ln w="12700">
            <a:solidFill>
              <a:srgbClr val="065A82"/>
            </a:solidFill>
            <a:prstDash val="solid"/>
          </a:ln>
        </p:spPr>
      </p:sp>
      <p:sp>
        <p:nvSpPr>
          <p:cNvPr id="42" name="Text 40"/>
          <p:cNvSpPr/>
          <p:nvPr/>
        </p:nvSpPr>
        <p:spPr>
          <a:xfrm>
            <a:off x="4709160" y="4270248"/>
            <a:ext cx="1737360" cy="475488"/>
          </a:xfrm>
          <a:prstGeom prst="rect">
            <a:avLst/>
          </a:prstGeom>
          <a:noFill/>
          <a:ln/>
        </p:spPr>
        <p:txBody>
          <a:bodyPr wrap="square" rtlCol="0" anchor="ctr"/>
          <a:lstStyle/>
          <a:p>
            <a:pPr algn="ctr" indent="0" marL="0">
              <a:buNone/>
            </a:pPr>
            <a:r>
              <a:rPr lang="en-US" sz="1200" dirty="0">
                <a:solidFill>
                  <a:srgbClr val="1E293B"/>
                </a:solidFill>
              </a:rPr>
              <a:t>Schema Design</a:t>
            </a:r>
            <a:endParaRPr lang="en-US" sz="1200" dirty="0"/>
          </a:p>
        </p:txBody>
      </p:sp>
      <p:sp>
        <p:nvSpPr>
          <p:cNvPr id="43" name="Shape 41"/>
          <p:cNvSpPr/>
          <p:nvPr/>
        </p:nvSpPr>
        <p:spPr>
          <a:xfrm>
            <a:off x="6766560" y="1143000"/>
            <a:ext cx="2011680" cy="475488"/>
          </a:xfrm>
          <a:prstGeom prst="rect">
            <a:avLst/>
          </a:prstGeom>
          <a:solidFill>
            <a:srgbClr val="6366F1"/>
          </a:solidFill>
          <a:ln w="12700">
            <a:solidFill>
              <a:srgbClr val="6366F1"/>
            </a:solidFill>
            <a:prstDash val="solid"/>
          </a:ln>
        </p:spPr>
      </p:sp>
      <p:sp>
        <p:nvSpPr>
          <p:cNvPr id="44" name="Text 42"/>
          <p:cNvSpPr/>
          <p:nvPr/>
        </p:nvSpPr>
        <p:spPr>
          <a:xfrm>
            <a:off x="6766560" y="1143000"/>
            <a:ext cx="2011680" cy="475488"/>
          </a:xfrm>
          <a:prstGeom prst="rect">
            <a:avLst/>
          </a:prstGeom>
          <a:noFill/>
          <a:ln/>
        </p:spPr>
        <p:txBody>
          <a:bodyPr wrap="square" lIns="0" tIns="0" rIns="0" bIns="0" rtlCol="0" anchor="ctr"/>
          <a:lstStyle/>
          <a:p>
            <a:pPr algn="ctr" indent="0" marL="0">
              <a:buNone/>
            </a:pPr>
            <a:r>
              <a:rPr lang="en-US" sz="1300" b="1" dirty="0">
                <a:solidFill>
                  <a:srgbClr val="FFFFFF"/>
                </a:solidFill>
              </a:rPr>
              <a:t>Tools</a:t>
            </a:r>
            <a:endParaRPr lang="en-US" sz="1300" dirty="0"/>
          </a:p>
        </p:txBody>
      </p:sp>
      <p:sp>
        <p:nvSpPr>
          <p:cNvPr id="45" name="Shape 43"/>
          <p:cNvSpPr/>
          <p:nvPr/>
        </p:nvSpPr>
        <p:spPr>
          <a:xfrm>
            <a:off x="6766560" y="1618488"/>
            <a:ext cx="2011680" cy="3337560"/>
          </a:xfrm>
          <a:prstGeom prst="rect">
            <a:avLst/>
          </a:prstGeom>
          <a:solidFill>
            <a:srgbClr val="F0F9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46" name="Shape 44"/>
          <p:cNvSpPr/>
          <p:nvPr/>
        </p:nvSpPr>
        <p:spPr>
          <a:xfrm>
            <a:off x="6903720" y="1783080"/>
            <a:ext cx="1737360" cy="475488"/>
          </a:xfrm>
          <a:prstGeom prst="rect">
            <a:avLst/>
          </a:prstGeom>
          <a:solidFill>
            <a:srgbClr val="FFFFFF"/>
          </a:solidFill>
          <a:ln w="12700">
            <a:solidFill>
              <a:srgbClr val="6366F1"/>
            </a:solidFill>
            <a:prstDash val="solid"/>
          </a:ln>
        </p:spPr>
      </p:sp>
      <p:sp>
        <p:nvSpPr>
          <p:cNvPr id="47" name="Text 45"/>
          <p:cNvSpPr/>
          <p:nvPr/>
        </p:nvSpPr>
        <p:spPr>
          <a:xfrm>
            <a:off x="6903720" y="1783080"/>
            <a:ext cx="1737360" cy="475488"/>
          </a:xfrm>
          <a:prstGeom prst="rect">
            <a:avLst/>
          </a:prstGeom>
          <a:noFill/>
          <a:ln/>
        </p:spPr>
        <p:txBody>
          <a:bodyPr wrap="square" rtlCol="0" anchor="ctr"/>
          <a:lstStyle/>
          <a:p>
            <a:pPr algn="ctr" indent="0" marL="0">
              <a:buNone/>
            </a:pPr>
            <a:r>
              <a:rPr lang="en-US" sz="1200" dirty="0">
                <a:solidFill>
                  <a:srgbClr val="1E293B"/>
                </a:solidFill>
              </a:rPr>
              <a:t>VS Code</a:t>
            </a:r>
            <a:endParaRPr lang="en-US" sz="1200" dirty="0"/>
          </a:p>
        </p:txBody>
      </p:sp>
      <p:sp>
        <p:nvSpPr>
          <p:cNvPr id="48" name="Shape 46"/>
          <p:cNvSpPr/>
          <p:nvPr/>
        </p:nvSpPr>
        <p:spPr>
          <a:xfrm>
            <a:off x="6903720" y="2404872"/>
            <a:ext cx="1737360" cy="475488"/>
          </a:xfrm>
          <a:prstGeom prst="rect">
            <a:avLst/>
          </a:prstGeom>
          <a:solidFill>
            <a:srgbClr val="FFFFFF"/>
          </a:solidFill>
          <a:ln w="12700">
            <a:solidFill>
              <a:srgbClr val="6366F1"/>
            </a:solidFill>
            <a:prstDash val="solid"/>
          </a:ln>
        </p:spPr>
      </p:sp>
      <p:sp>
        <p:nvSpPr>
          <p:cNvPr id="49" name="Text 47"/>
          <p:cNvSpPr/>
          <p:nvPr/>
        </p:nvSpPr>
        <p:spPr>
          <a:xfrm>
            <a:off x="6903720" y="2404872"/>
            <a:ext cx="1737360" cy="475488"/>
          </a:xfrm>
          <a:prstGeom prst="rect">
            <a:avLst/>
          </a:prstGeom>
          <a:noFill/>
          <a:ln/>
        </p:spPr>
        <p:txBody>
          <a:bodyPr wrap="square" rtlCol="0" anchor="ctr"/>
          <a:lstStyle/>
          <a:p>
            <a:pPr algn="ctr" indent="0" marL="0">
              <a:buNone/>
            </a:pPr>
            <a:r>
              <a:rPr lang="en-US" sz="1200" dirty="0">
                <a:solidFill>
                  <a:srgbClr val="1E293B"/>
                </a:solidFill>
              </a:rPr>
              <a:t>Postman</a:t>
            </a:r>
            <a:endParaRPr lang="en-US" sz="1200" dirty="0"/>
          </a:p>
        </p:txBody>
      </p:sp>
      <p:sp>
        <p:nvSpPr>
          <p:cNvPr id="50" name="Shape 48"/>
          <p:cNvSpPr/>
          <p:nvPr/>
        </p:nvSpPr>
        <p:spPr>
          <a:xfrm>
            <a:off x="6903720" y="3026664"/>
            <a:ext cx="1737360" cy="475488"/>
          </a:xfrm>
          <a:prstGeom prst="rect">
            <a:avLst/>
          </a:prstGeom>
          <a:solidFill>
            <a:srgbClr val="FFFFFF"/>
          </a:solidFill>
          <a:ln w="12700">
            <a:solidFill>
              <a:srgbClr val="6366F1"/>
            </a:solidFill>
            <a:prstDash val="solid"/>
          </a:ln>
        </p:spPr>
      </p:sp>
      <p:sp>
        <p:nvSpPr>
          <p:cNvPr id="51" name="Text 49"/>
          <p:cNvSpPr/>
          <p:nvPr/>
        </p:nvSpPr>
        <p:spPr>
          <a:xfrm>
            <a:off x="6903720" y="3026664"/>
            <a:ext cx="1737360" cy="475488"/>
          </a:xfrm>
          <a:prstGeom prst="rect">
            <a:avLst/>
          </a:prstGeom>
          <a:noFill/>
          <a:ln/>
        </p:spPr>
        <p:txBody>
          <a:bodyPr wrap="square" rtlCol="0" anchor="ctr"/>
          <a:lstStyle/>
          <a:p>
            <a:pPr algn="ctr" indent="0" marL="0">
              <a:buNone/>
            </a:pPr>
            <a:r>
              <a:rPr lang="en-US" sz="1200" dirty="0">
                <a:solidFill>
                  <a:srgbClr val="1E293B"/>
                </a:solidFill>
              </a:rPr>
              <a:t>Git &amp; GitHub</a:t>
            </a:r>
            <a:endParaRPr lang="en-US" sz="1200" dirty="0"/>
          </a:p>
        </p:txBody>
      </p:sp>
      <p:sp>
        <p:nvSpPr>
          <p:cNvPr id="52" name="Shape 50"/>
          <p:cNvSpPr/>
          <p:nvPr/>
        </p:nvSpPr>
        <p:spPr>
          <a:xfrm>
            <a:off x="6903720" y="3648456"/>
            <a:ext cx="1737360" cy="475488"/>
          </a:xfrm>
          <a:prstGeom prst="rect">
            <a:avLst/>
          </a:prstGeom>
          <a:solidFill>
            <a:srgbClr val="FFFFFF"/>
          </a:solidFill>
          <a:ln w="12700">
            <a:solidFill>
              <a:srgbClr val="6366F1"/>
            </a:solidFill>
            <a:prstDash val="solid"/>
          </a:ln>
        </p:spPr>
      </p:sp>
      <p:sp>
        <p:nvSpPr>
          <p:cNvPr id="53" name="Text 51"/>
          <p:cNvSpPr/>
          <p:nvPr/>
        </p:nvSpPr>
        <p:spPr>
          <a:xfrm>
            <a:off x="6903720" y="3648456"/>
            <a:ext cx="1737360" cy="475488"/>
          </a:xfrm>
          <a:prstGeom prst="rect">
            <a:avLst/>
          </a:prstGeom>
          <a:noFill/>
          <a:ln/>
        </p:spPr>
        <p:txBody>
          <a:bodyPr wrap="square" rtlCol="0" anchor="ctr"/>
          <a:lstStyle/>
          <a:p>
            <a:pPr algn="ctr" indent="0" marL="0">
              <a:buNone/>
            </a:pPr>
            <a:r>
              <a:rPr lang="en-US" sz="1200" dirty="0">
                <a:solidFill>
                  <a:srgbClr val="1E293B"/>
                </a:solidFill>
              </a:rPr>
              <a:t>npm</a:t>
            </a:r>
            <a:endParaRPr lang="en-US" sz="1200" dirty="0"/>
          </a:p>
        </p:txBody>
      </p:sp>
      <p:sp>
        <p:nvSpPr>
          <p:cNvPr id="54" name="Shape 52"/>
          <p:cNvSpPr/>
          <p:nvPr/>
        </p:nvSpPr>
        <p:spPr>
          <a:xfrm>
            <a:off x="6903720" y="4270248"/>
            <a:ext cx="1737360" cy="475488"/>
          </a:xfrm>
          <a:prstGeom prst="rect">
            <a:avLst/>
          </a:prstGeom>
          <a:solidFill>
            <a:srgbClr val="FFFFFF"/>
          </a:solidFill>
          <a:ln w="12700">
            <a:solidFill>
              <a:srgbClr val="6366F1"/>
            </a:solidFill>
            <a:prstDash val="solid"/>
          </a:ln>
        </p:spPr>
      </p:sp>
      <p:sp>
        <p:nvSpPr>
          <p:cNvPr id="55" name="Text 53"/>
          <p:cNvSpPr/>
          <p:nvPr/>
        </p:nvSpPr>
        <p:spPr>
          <a:xfrm>
            <a:off x="6903720" y="4270248"/>
            <a:ext cx="1737360" cy="475488"/>
          </a:xfrm>
          <a:prstGeom prst="rect">
            <a:avLst/>
          </a:prstGeom>
          <a:noFill/>
          <a:ln/>
        </p:spPr>
        <p:txBody>
          <a:bodyPr wrap="square" rtlCol="0" anchor="ctr"/>
          <a:lstStyle/>
          <a:p>
            <a:pPr algn="ctr" indent="0" marL="0">
              <a:buNone/>
            </a:pPr>
            <a:r>
              <a:rPr lang="en-US" sz="1200" dirty="0">
                <a:solidFill>
                  <a:srgbClr val="1E293B"/>
                </a:solidFill>
              </a:rPr>
              <a:t>Nodemon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65A82"/>
          </a:solidFill>
          <a:ln w="12700">
            <a:solidFill>
              <a:srgbClr val="065A82"/>
            </a:solidFill>
            <a:prstDash val="solid"/>
          </a:ln>
        </p:spPr>
      </p:sp>
      <p:sp>
        <p:nvSpPr>
          <p:cNvPr id="3" name="Text 1"/>
          <p:cNvSpPr/>
          <p:nvPr/>
        </p:nvSpPr>
        <p:spPr>
          <a:xfrm>
            <a:off x="457200" y="91440"/>
            <a:ext cx="822960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Database Design  (MongoDB Collections)</a:t>
            </a:r>
            <a:endParaRPr lang="en-US" sz="2800" dirty="0"/>
          </a:p>
        </p:txBody>
      </p:sp>
      <p:sp>
        <p:nvSpPr>
          <p:cNvPr id="4" name="Shape 2"/>
          <p:cNvSpPr/>
          <p:nvPr/>
        </p:nvSpPr>
        <p:spPr>
          <a:xfrm>
            <a:off x="182880" y="1115568"/>
            <a:ext cx="4206240" cy="402336"/>
          </a:xfrm>
          <a:prstGeom prst="rect">
            <a:avLst/>
          </a:prstGeom>
          <a:solidFill>
            <a:srgbClr val="028090"/>
          </a:solidFill>
          <a:ln w="12700">
            <a:solidFill>
              <a:srgbClr val="028090"/>
            </a:solidFill>
            <a:prstDash val="solid"/>
          </a:ln>
        </p:spPr>
      </p:sp>
      <p:sp>
        <p:nvSpPr>
          <p:cNvPr id="5" name="Text 3"/>
          <p:cNvSpPr/>
          <p:nvPr/>
        </p:nvSpPr>
        <p:spPr>
          <a:xfrm>
            <a:off x="182880" y="1115568"/>
            <a:ext cx="4206240" cy="402336"/>
          </a:xfrm>
          <a:prstGeom prst="rect">
            <a:avLst/>
          </a:prstGeom>
          <a:noFill/>
          <a:ln/>
        </p:spPr>
        <p:txBody>
          <a:bodyPr wrap="square" lIns="0" tIns="0" rIns="0" bIns="0" rtlCol="0" anchor="ctr"/>
          <a:lstStyle/>
          <a:p>
            <a:pPr algn="l" indent="0" marL="0">
              <a:buNone/>
            </a:pPr>
            <a:r>
              <a:rPr lang="en-US" sz="1400" b="1" dirty="0">
                <a:solidFill>
                  <a:srgbClr val="FFFFFF"/>
                </a:solidFill>
              </a:rPr>
              <a:t>  users</a:t>
            </a:r>
            <a:endParaRPr lang="en-US" sz="1400" dirty="0"/>
          </a:p>
        </p:txBody>
      </p:sp>
      <p:sp>
        <p:nvSpPr>
          <p:cNvPr id="6" name="Shape 4"/>
          <p:cNvSpPr/>
          <p:nvPr/>
        </p:nvSpPr>
        <p:spPr>
          <a:xfrm>
            <a:off x="182880" y="1517904"/>
            <a:ext cx="4206240" cy="1810512"/>
          </a:xfrm>
          <a:prstGeom prst="rect">
            <a:avLst/>
          </a:prstGeom>
          <a:solidFill>
            <a:srgbClr val="F0F9FF"/>
          </a:solidFill>
          <a:ln w="12700">
            <a:solidFill>
              <a:srgbClr val="028090"/>
            </a:solidFill>
            <a:prstDash val="solid"/>
          </a:ln>
        </p:spPr>
      </p:sp>
      <p:sp>
        <p:nvSpPr>
          <p:cNvPr id="7" name="Text 5"/>
          <p:cNvSpPr/>
          <p:nvPr/>
        </p:nvSpPr>
        <p:spPr>
          <a:xfrm>
            <a:off x="347472" y="1572768"/>
            <a:ext cx="3931920" cy="274320"/>
          </a:xfrm>
          <a:prstGeom prst="rect">
            <a:avLst/>
          </a:prstGeom>
          <a:noFill/>
          <a:ln/>
        </p:spPr>
        <p:txBody>
          <a:bodyPr wrap="square" rtlCol="0" anchor="ctr"/>
          <a:lstStyle/>
          <a:p>
            <a:pPr indent="0" marL="0">
              <a:buNone/>
            </a:pPr>
            <a:r>
              <a:rPr lang="en-US" sz="1150" dirty="0">
                <a:solidFill>
                  <a:srgbClr val="1E293B"/>
                </a:solidFill>
              </a:rPr>
              <a:t>• _id (ObjectId)</a:t>
            </a:r>
            <a:endParaRPr lang="en-US" sz="1150" dirty="0"/>
          </a:p>
        </p:txBody>
      </p:sp>
      <p:sp>
        <p:nvSpPr>
          <p:cNvPr id="8" name="Text 6"/>
          <p:cNvSpPr/>
          <p:nvPr/>
        </p:nvSpPr>
        <p:spPr>
          <a:xfrm>
            <a:off x="347472" y="1874520"/>
            <a:ext cx="3931920" cy="274320"/>
          </a:xfrm>
          <a:prstGeom prst="rect">
            <a:avLst/>
          </a:prstGeom>
          <a:noFill/>
          <a:ln/>
        </p:spPr>
        <p:txBody>
          <a:bodyPr wrap="square" rtlCol="0" anchor="ctr"/>
          <a:lstStyle/>
          <a:p>
            <a:pPr indent="0" marL="0">
              <a:buNone/>
            </a:pPr>
            <a:r>
              <a:rPr lang="en-US" sz="1150" dirty="0">
                <a:solidFill>
                  <a:srgbClr val="1E293B"/>
                </a:solidFill>
              </a:rPr>
              <a:t>• name</a:t>
            </a:r>
            <a:endParaRPr lang="en-US" sz="1150" dirty="0"/>
          </a:p>
        </p:txBody>
      </p:sp>
      <p:sp>
        <p:nvSpPr>
          <p:cNvPr id="9" name="Text 7"/>
          <p:cNvSpPr/>
          <p:nvPr/>
        </p:nvSpPr>
        <p:spPr>
          <a:xfrm>
            <a:off x="347472" y="2176272"/>
            <a:ext cx="3931920" cy="274320"/>
          </a:xfrm>
          <a:prstGeom prst="rect">
            <a:avLst/>
          </a:prstGeom>
          <a:noFill/>
          <a:ln/>
        </p:spPr>
        <p:txBody>
          <a:bodyPr wrap="square" rtlCol="0" anchor="ctr"/>
          <a:lstStyle/>
          <a:p>
            <a:pPr indent="0" marL="0">
              <a:buNone/>
            </a:pPr>
            <a:r>
              <a:rPr lang="en-US" sz="1150" dirty="0">
                <a:solidFill>
                  <a:srgbClr val="1E293B"/>
                </a:solidFill>
              </a:rPr>
              <a:t>• email</a:t>
            </a:r>
            <a:endParaRPr lang="en-US" sz="1150" dirty="0"/>
          </a:p>
        </p:txBody>
      </p:sp>
      <p:sp>
        <p:nvSpPr>
          <p:cNvPr id="10" name="Text 8"/>
          <p:cNvSpPr/>
          <p:nvPr/>
        </p:nvSpPr>
        <p:spPr>
          <a:xfrm>
            <a:off x="347472" y="2478024"/>
            <a:ext cx="3931920" cy="274320"/>
          </a:xfrm>
          <a:prstGeom prst="rect">
            <a:avLst/>
          </a:prstGeom>
          <a:noFill/>
          <a:ln/>
        </p:spPr>
        <p:txBody>
          <a:bodyPr wrap="square" rtlCol="0" anchor="ctr"/>
          <a:lstStyle/>
          <a:p>
            <a:pPr indent="0" marL="0">
              <a:buNone/>
            </a:pPr>
            <a:r>
              <a:rPr lang="en-US" sz="1150" dirty="0">
                <a:solidFill>
                  <a:srgbClr val="1E293B"/>
                </a:solidFill>
              </a:rPr>
              <a:t>• password (hashed)</a:t>
            </a:r>
            <a:endParaRPr lang="en-US" sz="1150" dirty="0"/>
          </a:p>
        </p:txBody>
      </p:sp>
      <p:sp>
        <p:nvSpPr>
          <p:cNvPr id="11" name="Text 9"/>
          <p:cNvSpPr/>
          <p:nvPr/>
        </p:nvSpPr>
        <p:spPr>
          <a:xfrm>
            <a:off x="347472" y="2779776"/>
            <a:ext cx="3931920" cy="274320"/>
          </a:xfrm>
          <a:prstGeom prst="rect">
            <a:avLst/>
          </a:prstGeom>
          <a:noFill/>
          <a:ln/>
        </p:spPr>
        <p:txBody>
          <a:bodyPr wrap="square" rtlCol="0" anchor="ctr"/>
          <a:lstStyle/>
          <a:p>
            <a:pPr indent="0" marL="0">
              <a:buNone/>
            </a:pPr>
            <a:r>
              <a:rPr lang="en-US" sz="1150" dirty="0">
                <a:solidFill>
                  <a:srgbClr val="1E293B"/>
                </a:solidFill>
              </a:rPr>
              <a:t>• role  [admin | pharmacist | customer]</a:t>
            </a:r>
            <a:endParaRPr lang="en-US" sz="1150" dirty="0"/>
          </a:p>
        </p:txBody>
      </p:sp>
      <p:sp>
        <p:nvSpPr>
          <p:cNvPr id="12" name="Text 10"/>
          <p:cNvSpPr/>
          <p:nvPr/>
        </p:nvSpPr>
        <p:spPr>
          <a:xfrm>
            <a:off x="347472" y="3081528"/>
            <a:ext cx="3931920" cy="274320"/>
          </a:xfrm>
          <a:prstGeom prst="rect">
            <a:avLst/>
          </a:prstGeom>
          <a:noFill/>
          <a:ln/>
        </p:spPr>
        <p:txBody>
          <a:bodyPr wrap="square" rtlCol="0" anchor="ctr"/>
          <a:lstStyle/>
          <a:p>
            <a:pPr indent="0" marL="0">
              <a:buNone/>
            </a:pPr>
            <a:r>
              <a:rPr lang="en-US" sz="1150" dirty="0">
                <a:solidFill>
                  <a:srgbClr val="1E293B"/>
                </a:solidFill>
              </a:rPr>
              <a:t>• phone</a:t>
            </a:r>
            <a:endParaRPr lang="en-US" sz="1150" dirty="0"/>
          </a:p>
        </p:txBody>
      </p:sp>
      <p:sp>
        <p:nvSpPr>
          <p:cNvPr id="13" name="Shape 11"/>
          <p:cNvSpPr/>
          <p:nvPr/>
        </p:nvSpPr>
        <p:spPr>
          <a:xfrm>
            <a:off x="4663440" y="1115568"/>
            <a:ext cx="4206240" cy="402336"/>
          </a:xfrm>
          <a:prstGeom prst="rect">
            <a:avLst/>
          </a:prstGeom>
          <a:solidFill>
            <a:srgbClr val="028090"/>
          </a:solidFill>
          <a:ln w="12700">
            <a:solidFill>
              <a:srgbClr val="028090"/>
            </a:solidFill>
            <a:prstDash val="solid"/>
          </a:ln>
        </p:spPr>
      </p:sp>
      <p:sp>
        <p:nvSpPr>
          <p:cNvPr id="14" name="Text 12"/>
          <p:cNvSpPr/>
          <p:nvPr/>
        </p:nvSpPr>
        <p:spPr>
          <a:xfrm>
            <a:off x="4663440" y="1115568"/>
            <a:ext cx="4206240" cy="402336"/>
          </a:xfrm>
          <a:prstGeom prst="rect">
            <a:avLst/>
          </a:prstGeom>
          <a:noFill/>
          <a:ln/>
        </p:spPr>
        <p:txBody>
          <a:bodyPr wrap="square" lIns="0" tIns="0" rIns="0" bIns="0" rtlCol="0" anchor="ctr"/>
          <a:lstStyle/>
          <a:p>
            <a:pPr algn="l" indent="0" marL="0">
              <a:buNone/>
            </a:pPr>
            <a:r>
              <a:rPr lang="en-US" sz="1400" b="1" dirty="0">
                <a:solidFill>
                  <a:srgbClr val="FFFFFF"/>
                </a:solidFill>
              </a:rPr>
              <a:t>  medicines</a:t>
            </a:r>
            <a:endParaRPr lang="en-US" sz="1400" dirty="0"/>
          </a:p>
        </p:txBody>
      </p:sp>
      <p:sp>
        <p:nvSpPr>
          <p:cNvPr id="15" name="Shape 13"/>
          <p:cNvSpPr/>
          <p:nvPr/>
        </p:nvSpPr>
        <p:spPr>
          <a:xfrm>
            <a:off x="4663440" y="1517904"/>
            <a:ext cx="4206240" cy="1810512"/>
          </a:xfrm>
          <a:prstGeom prst="rect">
            <a:avLst/>
          </a:prstGeom>
          <a:solidFill>
            <a:srgbClr val="F0F9FF"/>
          </a:solidFill>
          <a:ln w="12700">
            <a:solidFill>
              <a:srgbClr val="028090"/>
            </a:solidFill>
            <a:prstDash val="solid"/>
          </a:ln>
        </p:spPr>
      </p:sp>
      <p:sp>
        <p:nvSpPr>
          <p:cNvPr id="16" name="Text 14"/>
          <p:cNvSpPr/>
          <p:nvPr/>
        </p:nvSpPr>
        <p:spPr>
          <a:xfrm>
            <a:off x="4828032" y="1572768"/>
            <a:ext cx="3931920" cy="274320"/>
          </a:xfrm>
          <a:prstGeom prst="rect">
            <a:avLst/>
          </a:prstGeom>
          <a:noFill/>
          <a:ln/>
        </p:spPr>
        <p:txBody>
          <a:bodyPr wrap="square" rtlCol="0" anchor="ctr"/>
          <a:lstStyle/>
          <a:p>
            <a:pPr indent="0" marL="0">
              <a:buNone/>
            </a:pPr>
            <a:r>
              <a:rPr lang="en-US" sz="1150" dirty="0">
                <a:solidFill>
                  <a:srgbClr val="1E293B"/>
                </a:solidFill>
              </a:rPr>
              <a:t>• _id (ObjectId)</a:t>
            </a:r>
            <a:endParaRPr lang="en-US" sz="1150" dirty="0"/>
          </a:p>
        </p:txBody>
      </p:sp>
      <p:sp>
        <p:nvSpPr>
          <p:cNvPr id="17" name="Text 15"/>
          <p:cNvSpPr/>
          <p:nvPr/>
        </p:nvSpPr>
        <p:spPr>
          <a:xfrm>
            <a:off x="4828032" y="1874520"/>
            <a:ext cx="3931920" cy="274320"/>
          </a:xfrm>
          <a:prstGeom prst="rect">
            <a:avLst/>
          </a:prstGeom>
          <a:noFill/>
          <a:ln/>
        </p:spPr>
        <p:txBody>
          <a:bodyPr wrap="square" rtlCol="0" anchor="ctr"/>
          <a:lstStyle/>
          <a:p>
            <a:pPr indent="0" marL="0">
              <a:buNone/>
            </a:pPr>
            <a:r>
              <a:rPr lang="en-US" sz="1150" dirty="0">
                <a:solidFill>
                  <a:srgbClr val="1E293B"/>
                </a:solidFill>
              </a:rPr>
              <a:t>• name</a:t>
            </a:r>
            <a:endParaRPr lang="en-US" sz="1150" dirty="0"/>
          </a:p>
        </p:txBody>
      </p:sp>
      <p:sp>
        <p:nvSpPr>
          <p:cNvPr id="18" name="Text 16"/>
          <p:cNvSpPr/>
          <p:nvPr/>
        </p:nvSpPr>
        <p:spPr>
          <a:xfrm>
            <a:off x="4828032" y="2176272"/>
            <a:ext cx="3931920" cy="274320"/>
          </a:xfrm>
          <a:prstGeom prst="rect">
            <a:avLst/>
          </a:prstGeom>
          <a:noFill/>
          <a:ln/>
        </p:spPr>
        <p:txBody>
          <a:bodyPr wrap="square" rtlCol="0" anchor="ctr"/>
          <a:lstStyle/>
          <a:p>
            <a:pPr indent="0" marL="0">
              <a:buNone/>
            </a:pPr>
            <a:r>
              <a:rPr lang="en-US" sz="1150" dirty="0">
                <a:solidFill>
                  <a:srgbClr val="1E293B"/>
                </a:solidFill>
              </a:rPr>
              <a:t>• category</a:t>
            </a:r>
            <a:endParaRPr lang="en-US" sz="1150" dirty="0"/>
          </a:p>
        </p:txBody>
      </p:sp>
      <p:sp>
        <p:nvSpPr>
          <p:cNvPr id="19" name="Text 17"/>
          <p:cNvSpPr/>
          <p:nvPr/>
        </p:nvSpPr>
        <p:spPr>
          <a:xfrm>
            <a:off x="4828032" y="2478024"/>
            <a:ext cx="3931920" cy="274320"/>
          </a:xfrm>
          <a:prstGeom prst="rect">
            <a:avLst/>
          </a:prstGeom>
          <a:noFill/>
          <a:ln/>
        </p:spPr>
        <p:txBody>
          <a:bodyPr wrap="square" rtlCol="0" anchor="ctr"/>
          <a:lstStyle/>
          <a:p>
            <a:pPr indent="0" marL="0">
              <a:buNone/>
            </a:pPr>
            <a:r>
              <a:rPr lang="en-US" sz="1150" dirty="0">
                <a:solidFill>
                  <a:srgbClr val="1E293B"/>
                </a:solidFill>
              </a:rPr>
              <a:t>• price</a:t>
            </a:r>
            <a:endParaRPr lang="en-US" sz="1150" dirty="0"/>
          </a:p>
        </p:txBody>
      </p:sp>
      <p:sp>
        <p:nvSpPr>
          <p:cNvPr id="20" name="Text 18"/>
          <p:cNvSpPr/>
          <p:nvPr/>
        </p:nvSpPr>
        <p:spPr>
          <a:xfrm>
            <a:off x="4828032" y="2779776"/>
            <a:ext cx="3931920" cy="274320"/>
          </a:xfrm>
          <a:prstGeom prst="rect">
            <a:avLst/>
          </a:prstGeom>
          <a:noFill/>
          <a:ln/>
        </p:spPr>
        <p:txBody>
          <a:bodyPr wrap="square" rtlCol="0" anchor="ctr"/>
          <a:lstStyle/>
          <a:p>
            <a:pPr indent="0" marL="0">
              <a:buNone/>
            </a:pPr>
            <a:r>
              <a:rPr lang="en-US" sz="1150" dirty="0">
                <a:solidFill>
                  <a:srgbClr val="1E293B"/>
                </a:solidFill>
              </a:rPr>
              <a:t>• description</a:t>
            </a:r>
            <a:endParaRPr lang="en-US" sz="1150" dirty="0"/>
          </a:p>
        </p:txBody>
      </p:sp>
      <p:sp>
        <p:nvSpPr>
          <p:cNvPr id="21" name="Text 19"/>
          <p:cNvSpPr/>
          <p:nvPr/>
        </p:nvSpPr>
        <p:spPr>
          <a:xfrm>
            <a:off x="4828032" y="3081528"/>
            <a:ext cx="3931920" cy="274320"/>
          </a:xfrm>
          <a:prstGeom prst="rect">
            <a:avLst/>
          </a:prstGeom>
          <a:noFill/>
          <a:ln/>
        </p:spPr>
        <p:txBody>
          <a:bodyPr wrap="square" rtlCol="0" anchor="ctr"/>
          <a:lstStyle/>
          <a:p>
            <a:pPr indent="0" marL="0">
              <a:buNone/>
            </a:pPr>
            <a:r>
              <a:rPr lang="en-US" sz="1150" dirty="0">
                <a:solidFill>
                  <a:srgbClr val="1E293B"/>
                </a:solidFill>
              </a:rPr>
              <a:t>• requiresPrescription (bool)</a:t>
            </a:r>
            <a:endParaRPr lang="en-US" sz="1150" dirty="0"/>
          </a:p>
        </p:txBody>
      </p:sp>
      <p:sp>
        <p:nvSpPr>
          <p:cNvPr id="22" name="Shape 20"/>
          <p:cNvSpPr/>
          <p:nvPr/>
        </p:nvSpPr>
        <p:spPr>
          <a:xfrm>
            <a:off x="182880" y="3063240"/>
            <a:ext cx="4206240" cy="402336"/>
          </a:xfrm>
          <a:prstGeom prst="rect">
            <a:avLst/>
          </a:prstGeom>
          <a:solidFill>
            <a:srgbClr val="028090"/>
          </a:solidFill>
          <a:ln w="12700">
            <a:solidFill>
              <a:srgbClr val="028090"/>
            </a:solidFill>
            <a:prstDash val="solid"/>
          </a:ln>
        </p:spPr>
      </p:sp>
      <p:sp>
        <p:nvSpPr>
          <p:cNvPr id="23" name="Text 21"/>
          <p:cNvSpPr/>
          <p:nvPr/>
        </p:nvSpPr>
        <p:spPr>
          <a:xfrm>
            <a:off x="182880" y="3063240"/>
            <a:ext cx="4206240" cy="402336"/>
          </a:xfrm>
          <a:prstGeom prst="rect">
            <a:avLst/>
          </a:prstGeom>
          <a:noFill/>
          <a:ln/>
        </p:spPr>
        <p:txBody>
          <a:bodyPr wrap="square" lIns="0" tIns="0" rIns="0" bIns="0" rtlCol="0" anchor="ctr"/>
          <a:lstStyle/>
          <a:p>
            <a:pPr algn="l" indent="0" marL="0">
              <a:buNone/>
            </a:pPr>
            <a:r>
              <a:rPr lang="en-US" sz="1400" b="1" dirty="0">
                <a:solidFill>
                  <a:srgbClr val="FFFFFF"/>
                </a:solidFill>
              </a:rPr>
              <a:t>  orders</a:t>
            </a:r>
            <a:endParaRPr lang="en-US" sz="1400" dirty="0"/>
          </a:p>
        </p:txBody>
      </p:sp>
      <p:sp>
        <p:nvSpPr>
          <p:cNvPr id="24" name="Shape 22"/>
          <p:cNvSpPr/>
          <p:nvPr/>
        </p:nvSpPr>
        <p:spPr>
          <a:xfrm>
            <a:off x="182880" y="3465576"/>
            <a:ext cx="4206240" cy="1810512"/>
          </a:xfrm>
          <a:prstGeom prst="rect">
            <a:avLst/>
          </a:prstGeom>
          <a:solidFill>
            <a:srgbClr val="F0F9FF"/>
          </a:solidFill>
          <a:ln w="12700">
            <a:solidFill>
              <a:srgbClr val="028090"/>
            </a:solidFill>
            <a:prstDash val="solid"/>
          </a:ln>
        </p:spPr>
      </p:sp>
      <p:sp>
        <p:nvSpPr>
          <p:cNvPr id="25" name="Text 23"/>
          <p:cNvSpPr/>
          <p:nvPr/>
        </p:nvSpPr>
        <p:spPr>
          <a:xfrm>
            <a:off x="347472" y="3520440"/>
            <a:ext cx="3931920" cy="274320"/>
          </a:xfrm>
          <a:prstGeom prst="rect">
            <a:avLst/>
          </a:prstGeom>
          <a:noFill/>
          <a:ln/>
        </p:spPr>
        <p:txBody>
          <a:bodyPr wrap="square" rtlCol="0" anchor="ctr"/>
          <a:lstStyle/>
          <a:p>
            <a:pPr indent="0" marL="0">
              <a:buNone/>
            </a:pPr>
            <a:r>
              <a:rPr lang="en-US" sz="1150" dirty="0">
                <a:solidFill>
                  <a:srgbClr val="1E293B"/>
                </a:solidFill>
              </a:rPr>
              <a:t>• _id (ObjectId)</a:t>
            </a:r>
            <a:endParaRPr lang="en-US" sz="1150" dirty="0"/>
          </a:p>
        </p:txBody>
      </p:sp>
      <p:sp>
        <p:nvSpPr>
          <p:cNvPr id="26" name="Text 24"/>
          <p:cNvSpPr/>
          <p:nvPr/>
        </p:nvSpPr>
        <p:spPr>
          <a:xfrm>
            <a:off x="347472" y="3822192"/>
            <a:ext cx="3931920" cy="274320"/>
          </a:xfrm>
          <a:prstGeom prst="rect">
            <a:avLst/>
          </a:prstGeom>
          <a:noFill/>
          <a:ln/>
        </p:spPr>
        <p:txBody>
          <a:bodyPr wrap="square" rtlCol="0" anchor="ctr"/>
          <a:lstStyle/>
          <a:p>
            <a:pPr indent="0" marL="0">
              <a:buNone/>
            </a:pPr>
            <a:r>
              <a:rPr lang="en-US" sz="1150" dirty="0">
                <a:solidFill>
                  <a:srgbClr val="1E293B"/>
                </a:solidFill>
              </a:rPr>
              <a:t>• userId (ref)</a:t>
            </a:r>
            <a:endParaRPr lang="en-US" sz="1150" dirty="0"/>
          </a:p>
        </p:txBody>
      </p:sp>
      <p:sp>
        <p:nvSpPr>
          <p:cNvPr id="27" name="Text 25"/>
          <p:cNvSpPr/>
          <p:nvPr/>
        </p:nvSpPr>
        <p:spPr>
          <a:xfrm>
            <a:off x="347472" y="4123944"/>
            <a:ext cx="3931920" cy="274320"/>
          </a:xfrm>
          <a:prstGeom prst="rect">
            <a:avLst/>
          </a:prstGeom>
          <a:noFill/>
          <a:ln/>
        </p:spPr>
        <p:txBody>
          <a:bodyPr wrap="square" rtlCol="0" anchor="ctr"/>
          <a:lstStyle/>
          <a:p>
            <a:pPr indent="0" marL="0">
              <a:buNone/>
            </a:pPr>
            <a:r>
              <a:rPr lang="en-US" sz="1150" dirty="0">
                <a:solidFill>
                  <a:srgbClr val="1E293B"/>
                </a:solidFill>
              </a:rPr>
              <a:t>• items [ ]</a:t>
            </a:r>
            <a:endParaRPr lang="en-US" sz="1150" dirty="0"/>
          </a:p>
        </p:txBody>
      </p:sp>
      <p:sp>
        <p:nvSpPr>
          <p:cNvPr id="28" name="Text 26"/>
          <p:cNvSpPr/>
          <p:nvPr/>
        </p:nvSpPr>
        <p:spPr>
          <a:xfrm>
            <a:off x="347472" y="4425696"/>
            <a:ext cx="3931920" cy="274320"/>
          </a:xfrm>
          <a:prstGeom prst="rect">
            <a:avLst/>
          </a:prstGeom>
          <a:noFill/>
          <a:ln/>
        </p:spPr>
        <p:txBody>
          <a:bodyPr wrap="square" rtlCol="0" anchor="ctr"/>
          <a:lstStyle/>
          <a:p>
            <a:pPr indent="0" marL="0">
              <a:buNone/>
            </a:pPr>
            <a:r>
              <a:rPr lang="en-US" sz="1150" dirty="0">
                <a:solidFill>
                  <a:srgbClr val="1E293B"/>
                </a:solidFill>
              </a:rPr>
              <a:t>• totalAmount</a:t>
            </a:r>
            <a:endParaRPr lang="en-US" sz="1150" dirty="0"/>
          </a:p>
        </p:txBody>
      </p:sp>
      <p:sp>
        <p:nvSpPr>
          <p:cNvPr id="29" name="Text 27"/>
          <p:cNvSpPr/>
          <p:nvPr/>
        </p:nvSpPr>
        <p:spPr>
          <a:xfrm>
            <a:off x="347472" y="4727448"/>
            <a:ext cx="3931920" cy="274320"/>
          </a:xfrm>
          <a:prstGeom prst="rect">
            <a:avLst/>
          </a:prstGeom>
          <a:noFill/>
          <a:ln/>
        </p:spPr>
        <p:txBody>
          <a:bodyPr wrap="square" rtlCol="0" anchor="ctr"/>
          <a:lstStyle/>
          <a:p>
            <a:pPr indent="0" marL="0">
              <a:buNone/>
            </a:pPr>
            <a:r>
              <a:rPr lang="en-US" sz="1150" dirty="0">
                <a:solidFill>
                  <a:srgbClr val="1E293B"/>
                </a:solidFill>
              </a:rPr>
              <a:t>• status</a:t>
            </a:r>
            <a:endParaRPr lang="en-US" sz="1150" dirty="0"/>
          </a:p>
        </p:txBody>
      </p:sp>
      <p:sp>
        <p:nvSpPr>
          <p:cNvPr id="30" name="Text 28"/>
          <p:cNvSpPr/>
          <p:nvPr/>
        </p:nvSpPr>
        <p:spPr>
          <a:xfrm>
            <a:off x="347472" y="5029200"/>
            <a:ext cx="3931920" cy="274320"/>
          </a:xfrm>
          <a:prstGeom prst="rect">
            <a:avLst/>
          </a:prstGeom>
          <a:noFill/>
          <a:ln/>
        </p:spPr>
        <p:txBody>
          <a:bodyPr wrap="square" rtlCol="0" anchor="ctr"/>
          <a:lstStyle/>
          <a:p>
            <a:pPr indent="0" marL="0">
              <a:buNone/>
            </a:pPr>
            <a:r>
              <a:rPr lang="en-US" sz="1150" dirty="0">
                <a:solidFill>
                  <a:srgbClr val="1E293B"/>
                </a:solidFill>
              </a:rPr>
              <a:t>• createdAt</a:t>
            </a:r>
            <a:endParaRPr lang="en-US" sz="1150" dirty="0"/>
          </a:p>
        </p:txBody>
      </p:sp>
      <p:sp>
        <p:nvSpPr>
          <p:cNvPr id="31" name="Shape 29"/>
          <p:cNvSpPr/>
          <p:nvPr/>
        </p:nvSpPr>
        <p:spPr>
          <a:xfrm>
            <a:off x="4663440" y="3063240"/>
            <a:ext cx="4206240" cy="402336"/>
          </a:xfrm>
          <a:prstGeom prst="rect">
            <a:avLst/>
          </a:prstGeom>
          <a:solidFill>
            <a:srgbClr val="028090"/>
          </a:solidFill>
          <a:ln w="12700">
            <a:solidFill>
              <a:srgbClr val="028090"/>
            </a:solidFill>
            <a:prstDash val="solid"/>
          </a:ln>
        </p:spPr>
      </p:sp>
      <p:sp>
        <p:nvSpPr>
          <p:cNvPr id="32" name="Text 30"/>
          <p:cNvSpPr/>
          <p:nvPr/>
        </p:nvSpPr>
        <p:spPr>
          <a:xfrm>
            <a:off x="4663440" y="3063240"/>
            <a:ext cx="4206240" cy="402336"/>
          </a:xfrm>
          <a:prstGeom prst="rect">
            <a:avLst/>
          </a:prstGeom>
          <a:noFill/>
          <a:ln/>
        </p:spPr>
        <p:txBody>
          <a:bodyPr wrap="square" lIns="0" tIns="0" rIns="0" bIns="0" rtlCol="0" anchor="ctr"/>
          <a:lstStyle/>
          <a:p>
            <a:pPr algn="l" indent="0" marL="0">
              <a:buNone/>
            </a:pPr>
            <a:r>
              <a:rPr lang="en-US" sz="1400" b="1" dirty="0">
                <a:solidFill>
                  <a:srgbClr val="FFFFFF"/>
                </a:solidFill>
              </a:rPr>
              <a:t>  prescriptions</a:t>
            </a:r>
            <a:endParaRPr lang="en-US" sz="1400" dirty="0"/>
          </a:p>
        </p:txBody>
      </p:sp>
      <p:sp>
        <p:nvSpPr>
          <p:cNvPr id="33" name="Shape 31"/>
          <p:cNvSpPr/>
          <p:nvPr/>
        </p:nvSpPr>
        <p:spPr>
          <a:xfrm>
            <a:off x="4663440" y="3465576"/>
            <a:ext cx="4206240" cy="1508760"/>
          </a:xfrm>
          <a:prstGeom prst="rect">
            <a:avLst/>
          </a:prstGeom>
          <a:solidFill>
            <a:srgbClr val="F0F9FF"/>
          </a:solidFill>
          <a:ln w="12700">
            <a:solidFill>
              <a:srgbClr val="028090"/>
            </a:solidFill>
            <a:prstDash val="solid"/>
          </a:ln>
        </p:spPr>
      </p:sp>
      <p:sp>
        <p:nvSpPr>
          <p:cNvPr id="34" name="Text 32"/>
          <p:cNvSpPr/>
          <p:nvPr/>
        </p:nvSpPr>
        <p:spPr>
          <a:xfrm>
            <a:off x="4828032" y="3520440"/>
            <a:ext cx="3931920" cy="274320"/>
          </a:xfrm>
          <a:prstGeom prst="rect">
            <a:avLst/>
          </a:prstGeom>
          <a:noFill/>
          <a:ln/>
        </p:spPr>
        <p:txBody>
          <a:bodyPr wrap="square" rtlCol="0" anchor="ctr"/>
          <a:lstStyle/>
          <a:p>
            <a:pPr indent="0" marL="0">
              <a:buNone/>
            </a:pPr>
            <a:r>
              <a:rPr lang="en-US" sz="1150" dirty="0">
                <a:solidFill>
                  <a:srgbClr val="1E293B"/>
                </a:solidFill>
              </a:rPr>
              <a:t>• _id (ObjectId)</a:t>
            </a:r>
            <a:endParaRPr lang="en-US" sz="1150" dirty="0"/>
          </a:p>
        </p:txBody>
      </p:sp>
      <p:sp>
        <p:nvSpPr>
          <p:cNvPr id="35" name="Text 33"/>
          <p:cNvSpPr/>
          <p:nvPr/>
        </p:nvSpPr>
        <p:spPr>
          <a:xfrm>
            <a:off x="4828032" y="3822192"/>
            <a:ext cx="3931920" cy="274320"/>
          </a:xfrm>
          <a:prstGeom prst="rect">
            <a:avLst/>
          </a:prstGeom>
          <a:noFill/>
          <a:ln/>
        </p:spPr>
        <p:txBody>
          <a:bodyPr wrap="square" rtlCol="0" anchor="ctr"/>
          <a:lstStyle/>
          <a:p>
            <a:pPr indent="0" marL="0">
              <a:buNone/>
            </a:pPr>
            <a:r>
              <a:rPr lang="en-US" sz="1150" dirty="0">
                <a:solidFill>
                  <a:srgbClr val="1E293B"/>
                </a:solidFill>
              </a:rPr>
              <a:t>• userId (ref)</a:t>
            </a:r>
            <a:endParaRPr lang="en-US" sz="1150" dirty="0"/>
          </a:p>
        </p:txBody>
      </p:sp>
      <p:sp>
        <p:nvSpPr>
          <p:cNvPr id="36" name="Text 34"/>
          <p:cNvSpPr/>
          <p:nvPr/>
        </p:nvSpPr>
        <p:spPr>
          <a:xfrm>
            <a:off x="4828032" y="4123944"/>
            <a:ext cx="3931920" cy="274320"/>
          </a:xfrm>
          <a:prstGeom prst="rect">
            <a:avLst/>
          </a:prstGeom>
          <a:noFill/>
          <a:ln/>
        </p:spPr>
        <p:txBody>
          <a:bodyPr wrap="square" rtlCol="0" anchor="ctr"/>
          <a:lstStyle/>
          <a:p>
            <a:pPr indent="0" marL="0">
              <a:buNone/>
            </a:pPr>
            <a:r>
              <a:rPr lang="en-US" sz="1150" dirty="0">
                <a:solidFill>
                  <a:srgbClr val="1E293B"/>
                </a:solidFill>
              </a:rPr>
              <a:t>• orderId (ref)</a:t>
            </a:r>
            <a:endParaRPr lang="en-US" sz="1150" dirty="0"/>
          </a:p>
        </p:txBody>
      </p:sp>
      <p:sp>
        <p:nvSpPr>
          <p:cNvPr id="37" name="Text 35"/>
          <p:cNvSpPr/>
          <p:nvPr/>
        </p:nvSpPr>
        <p:spPr>
          <a:xfrm>
            <a:off x="4828032" y="4425696"/>
            <a:ext cx="3931920" cy="274320"/>
          </a:xfrm>
          <a:prstGeom prst="rect">
            <a:avLst/>
          </a:prstGeom>
          <a:noFill/>
          <a:ln/>
        </p:spPr>
        <p:txBody>
          <a:bodyPr wrap="square" rtlCol="0" anchor="ctr"/>
          <a:lstStyle/>
          <a:p>
            <a:pPr indent="0" marL="0">
              <a:buNone/>
            </a:pPr>
            <a:r>
              <a:rPr lang="en-US" sz="1150" dirty="0">
                <a:solidFill>
                  <a:srgbClr val="1E293B"/>
                </a:solidFill>
              </a:rPr>
              <a:t>• imagePath</a:t>
            </a:r>
            <a:endParaRPr lang="en-US" sz="1150" dirty="0"/>
          </a:p>
        </p:txBody>
      </p:sp>
      <p:sp>
        <p:nvSpPr>
          <p:cNvPr id="38" name="Text 36"/>
          <p:cNvSpPr/>
          <p:nvPr/>
        </p:nvSpPr>
        <p:spPr>
          <a:xfrm>
            <a:off x="4828032" y="4727448"/>
            <a:ext cx="3931920" cy="274320"/>
          </a:xfrm>
          <a:prstGeom prst="rect">
            <a:avLst/>
          </a:prstGeom>
          <a:noFill/>
          <a:ln/>
        </p:spPr>
        <p:txBody>
          <a:bodyPr wrap="square" rtlCol="0" anchor="ctr"/>
          <a:lstStyle/>
          <a:p>
            <a:pPr indent="0" marL="0">
              <a:buNone/>
            </a:pPr>
            <a:r>
              <a:rPr lang="en-US" sz="1150" dirty="0">
                <a:solidFill>
                  <a:srgbClr val="1E293B"/>
                </a:solidFill>
              </a:rPr>
              <a:t>• status  [pending | approved | rejected]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65A82"/>
          </a:solidFill>
          <a:ln w="12700">
            <a:solidFill>
              <a:srgbClr val="065A82"/>
            </a:solidFill>
            <a:prstDash val="solid"/>
          </a:ln>
        </p:spPr>
      </p:sp>
      <p:sp>
        <p:nvSpPr>
          <p:cNvPr id="3" name="Text 1"/>
          <p:cNvSpPr/>
          <p:nvPr/>
        </p:nvSpPr>
        <p:spPr>
          <a:xfrm>
            <a:off x="457200" y="91440"/>
            <a:ext cx="822960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System Modules</a:t>
            </a:r>
            <a:endParaRPr lang="en-US" sz="3000" dirty="0"/>
          </a:p>
        </p:txBody>
      </p:sp>
      <p:sp>
        <p:nvSpPr>
          <p:cNvPr id="4" name="Shape 2"/>
          <p:cNvSpPr/>
          <p:nvPr/>
        </p:nvSpPr>
        <p:spPr>
          <a:xfrm>
            <a:off x="182880" y="1143000"/>
            <a:ext cx="4206240" cy="1115568"/>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182880" y="1143000"/>
            <a:ext cx="64008" cy="1115568"/>
          </a:xfrm>
          <a:prstGeom prst="rect">
            <a:avLst/>
          </a:prstGeom>
          <a:solidFill>
            <a:srgbClr val="02C39A"/>
          </a:solidFill>
          <a:ln w="12700">
            <a:solidFill>
              <a:srgbClr val="02C39A"/>
            </a:solidFill>
            <a:prstDash val="solid"/>
          </a:ln>
        </p:spPr>
      </p:sp>
      <p:sp>
        <p:nvSpPr>
          <p:cNvPr id="6" name="Shape 4"/>
          <p:cNvSpPr/>
          <p:nvPr/>
        </p:nvSpPr>
        <p:spPr>
          <a:xfrm>
            <a:off x="347472" y="1216152"/>
            <a:ext cx="960120" cy="246888"/>
          </a:xfrm>
          <a:prstGeom prst="rect">
            <a:avLst/>
          </a:prstGeom>
          <a:solidFill>
            <a:srgbClr val="02C39A"/>
          </a:solidFill>
          <a:ln w="12700">
            <a:solidFill>
              <a:srgbClr val="02C39A"/>
            </a:solidFill>
            <a:prstDash val="solid"/>
          </a:ln>
        </p:spPr>
      </p:sp>
      <p:sp>
        <p:nvSpPr>
          <p:cNvPr id="7" name="Text 5"/>
          <p:cNvSpPr/>
          <p:nvPr/>
        </p:nvSpPr>
        <p:spPr>
          <a:xfrm>
            <a:off x="347472" y="1216152"/>
            <a:ext cx="960120" cy="246888"/>
          </a:xfrm>
          <a:prstGeom prst="rect">
            <a:avLst/>
          </a:prstGeom>
          <a:noFill/>
          <a:ln/>
        </p:spPr>
        <p:txBody>
          <a:bodyPr wrap="square" lIns="0" tIns="0" rIns="0" bIns="0" rtlCol="0" anchor="ctr"/>
          <a:lstStyle/>
          <a:p>
            <a:pPr algn="ctr" indent="0" marL="0">
              <a:buNone/>
            </a:pPr>
            <a:r>
              <a:rPr lang="en-US" sz="900" b="1" dirty="0">
                <a:solidFill>
                  <a:srgbClr val="FFFFFF"/>
                </a:solidFill>
              </a:rPr>
              <a:t>Customer</a:t>
            </a:r>
            <a:endParaRPr lang="en-US" sz="900" dirty="0"/>
          </a:p>
        </p:txBody>
      </p:sp>
      <p:sp>
        <p:nvSpPr>
          <p:cNvPr id="8" name="Text 6"/>
          <p:cNvSpPr/>
          <p:nvPr/>
        </p:nvSpPr>
        <p:spPr>
          <a:xfrm>
            <a:off x="347472" y="1527048"/>
            <a:ext cx="393192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User Registration &amp; Login</a:t>
            </a:r>
            <a:endParaRPr lang="en-US" sz="1300" dirty="0"/>
          </a:p>
        </p:txBody>
      </p:sp>
      <p:sp>
        <p:nvSpPr>
          <p:cNvPr id="9" name="Text 7"/>
          <p:cNvSpPr/>
          <p:nvPr/>
        </p:nvSpPr>
        <p:spPr>
          <a:xfrm>
            <a:off x="347472" y="1837944"/>
            <a:ext cx="3931920"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Sign up, secure login with JWT, manage profile &amp; view order history.</a:t>
            </a:r>
            <a:endParaRPr lang="en-US" sz="1100" dirty="0"/>
          </a:p>
        </p:txBody>
      </p:sp>
      <p:sp>
        <p:nvSpPr>
          <p:cNvPr id="10" name="Shape 8"/>
          <p:cNvSpPr/>
          <p:nvPr/>
        </p:nvSpPr>
        <p:spPr>
          <a:xfrm>
            <a:off x="4663440" y="1143000"/>
            <a:ext cx="4206240" cy="1115568"/>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663440" y="1143000"/>
            <a:ext cx="64008" cy="1115568"/>
          </a:xfrm>
          <a:prstGeom prst="rect">
            <a:avLst/>
          </a:prstGeom>
          <a:solidFill>
            <a:srgbClr val="02C39A"/>
          </a:solidFill>
          <a:ln w="12700">
            <a:solidFill>
              <a:srgbClr val="02C39A"/>
            </a:solidFill>
            <a:prstDash val="solid"/>
          </a:ln>
        </p:spPr>
      </p:sp>
      <p:sp>
        <p:nvSpPr>
          <p:cNvPr id="12" name="Shape 10"/>
          <p:cNvSpPr/>
          <p:nvPr/>
        </p:nvSpPr>
        <p:spPr>
          <a:xfrm>
            <a:off x="4828032" y="1216152"/>
            <a:ext cx="960120" cy="246888"/>
          </a:xfrm>
          <a:prstGeom prst="rect">
            <a:avLst/>
          </a:prstGeom>
          <a:solidFill>
            <a:srgbClr val="02C39A"/>
          </a:solidFill>
          <a:ln w="12700">
            <a:solidFill>
              <a:srgbClr val="02C39A"/>
            </a:solidFill>
            <a:prstDash val="solid"/>
          </a:ln>
        </p:spPr>
      </p:sp>
      <p:sp>
        <p:nvSpPr>
          <p:cNvPr id="13" name="Text 11"/>
          <p:cNvSpPr/>
          <p:nvPr/>
        </p:nvSpPr>
        <p:spPr>
          <a:xfrm>
            <a:off x="4828032" y="1216152"/>
            <a:ext cx="960120" cy="246888"/>
          </a:xfrm>
          <a:prstGeom prst="rect">
            <a:avLst/>
          </a:prstGeom>
          <a:noFill/>
          <a:ln/>
        </p:spPr>
        <p:txBody>
          <a:bodyPr wrap="square" lIns="0" tIns="0" rIns="0" bIns="0" rtlCol="0" anchor="ctr"/>
          <a:lstStyle/>
          <a:p>
            <a:pPr algn="ctr" indent="0" marL="0">
              <a:buNone/>
            </a:pPr>
            <a:r>
              <a:rPr lang="en-US" sz="900" b="1" dirty="0">
                <a:solidFill>
                  <a:srgbClr val="FFFFFF"/>
                </a:solidFill>
              </a:rPr>
              <a:t>Customer</a:t>
            </a:r>
            <a:endParaRPr lang="en-US" sz="900" dirty="0"/>
          </a:p>
        </p:txBody>
      </p:sp>
      <p:sp>
        <p:nvSpPr>
          <p:cNvPr id="14" name="Text 12"/>
          <p:cNvSpPr/>
          <p:nvPr/>
        </p:nvSpPr>
        <p:spPr>
          <a:xfrm>
            <a:off x="4828032" y="1527048"/>
            <a:ext cx="393192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Medicine Catalog</a:t>
            </a:r>
            <a:endParaRPr lang="en-US" sz="1300" dirty="0"/>
          </a:p>
        </p:txBody>
      </p:sp>
      <p:sp>
        <p:nvSpPr>
          <p:cNvPr id="15" name="Text 13"/>
          <p:cNvSpPr/>
          <p:nvPr/>
        </p:nvSpPr>
        <p:spPr>
          <a:xfrm>
            <a:off x="4828032" y="1837944"/>
            <a:ext cx="3931920"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Browse and search medicines by name/category, view price &amp; details.</a:t>
            </a:r>
            <a:endParaRPr lang="en-US" sz="1100" dirty="0"/>
          </a:p>
        </p:txBody>
      </p:sp>
      <p:sp>
        <p:nvSpPr>
          <p:cNvPr id="16" name="Shape 14"/>
          <p:cNvSpPr/>
          <p:nvPr/>
        </p:nvSpPr>
        <p:spPr>
          <a:xfrm>
            <a:off x="182880" y="2441448"/>
            <a:ext cx="4206240" cy="1115568"/>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182880" y="2441448"/>
            <a:ext cx="64008" cy="1115568"/>
          </a:xfrm>
          <a:prstGeom prst="rect">
            <a:avLst/>
          </a:prstGeom>
          <a:solidFill>
            <a:srgbClr val="02C39A"/>
          </a:solidFill>
          <a:ln w="12700">
            <a:solidFill>
              <a:srgbClr val="02C39A"/>
            </a:solidFill>
            <a:prstDash val="solid"/>
          </a:ln>
        </p:spPr>
      </p:sp>
      <p:sp>
        <p:nvSpPr>
          <p:cNvPr id="18" name="Shape 16"/>
          <p:cNvSpPr/>
          <p:nvPr/>
        </p:nvSpPr>
        <p:spPr>
          <a:xfrm>
            <a:off x="347472" y="2514600"/>
            <a:ext cx="960120" cy="246888"/>
          </a:xfrm>
          <a:prstGeom prst="rect">
            <a:avLst/>
          </a:prstGeom>
          <a:solidFill>
            <a:srgbClr val="02C39A"/>
          </a:solidFill>
          <a:ln w="12700">
            <a:solidFill>
              <a:srgbClr val="02C39A"/>
            </a:solidFill>
            <a:prstDash val="solid"/>
          </a:ln>
        </p:spPr>
      </p:sp>
      <p:sp>
        <p:nvSpPr>
          <p:cNvPr id="19" name="Text 17"/>
          <p:cNvSpPr/>
          <p:nvPr/>
        </p:nvSpPr>
        <p:spPr>
          <a:xfrm>
            <a:off x="347472" y="2514600"/>
            <a:ext cx="960120" cy="246888"/>
          </a:xfrm>
          <a:prstGeom prst="rect">
            <a:avLst/>
          </a:prstGeom>
          <a:noFill/>
          <a:ln/>
        </p:spPr>
        <p:txBody>
          <a:bodyPr wrap="square" lIns="0" tIns="0" rIns="0" bIns="0" rtlCol="0" anchor="ctr"/>
          <a:lstStyle/>
          <a:p>
            <a:pPr algn="ctr" indent="0" marL="0">
              <a:buNone/>
            </a:pPr>
            <a:r>
              <a:rPr lang="en-US" sz="900" b="1" dirty="0">
                <a:solidFill>
                  <a:srgbClr val="FFFFFF"/>
                </a:solidFill>
              </a:rPr>
              <a:t>Customer</a:t>
            </a:r>
            <a:endParaRPr lang="en-US" sz="900" dirty="0"/>
          </a:p>
        </p:txBody>
      </p:sp>
      <p:sp>
        <p:nvSpPr>
          <p:cNvPr id="20" name="Text 18"/>
          <p:cNvSpPr/>
          <p:nvPr/>
        </p:nvSpPr>
        <p:spPr>
          <a:xfrm>
            <a:off x="347472" y="2825496"/>
            <a:ext cx="393192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Order Placement &amp; Pickup</a:t>
            </a:r>
            <a:endParaRPr lang="en-US" sz="1300" dirty="0"/>
          </a:p>
        </p:txBody>
      </p:sp>
      <p:sp>
        <p:nvSpPr>
          <p:cNvPr id="21" name="Text 19"/>
          <p:cNvSpPr/>
          <p:nvPr/>
        </p:nvSpPr>
        <p:spPr>
          <a:xfrm>
            <a:off x="347472" y="3136392"/>
            <a:ext cx="3931920"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Add medicines to cart, place order, collect from store at scheduled time.</a:t>
            </a:r>
            <a:endParaRPr lang="en-US" sz="1100" dirty="0"/>
          </a:p>
        </p:txBody>
      </p:sp>
      <p:sp>
        <p:nvSpPr>
          <p:cNvPr id="22" name="Shape 20"/>
          <p:cNvSpPr/>
          <p:nvPr/>
        </p:nvSpPr>
        <p:spPr>
          <a:xfrm>
            <a:off x="4663440" y="2441448"/>
            <a:ext cx="4206240" cy="1115568"/>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663440" y="2441448"/>
            <a:ext cx="64008" cy="1115568"/>
          </a:xfrm>
          <a:prstGeom prst="rect">
            <a:avLst/>
          </a:prstGeom>
          <a:solidFill>
            <a:srgbClr val="02C39A"/>
          </a:solidFill>
          <a:ln w="12700">
            <a:solidFill>
              <a:srgbClr val="02C39A"/>
            </a:solidFill>
            <a:prstDash val="solid"/>
          </a:ln>
        </p:spPr>
      </p:sp>
      <p:sp>
        <p:nvSpPr>
          <p:cNvPr id="24" name="Shape 22"/>
          <p:cNvSpPr/>
          <p:nvPr/>
        </p:nvSpPr>
        <p:spPr>
          <a:xfrm>
            <a:off x="4828032" y="2514600"/>
            <a:ext cx="960120" cy="246888"/>
          </a:xfrm>
          <a:prstGeom prst="rect">
            <a:avLst/>
          </a:prstGeom>
          <a:solidFill>
            <a:srgbClr val="02C39A"/>
          </a:solidFill>
          <a:ln w="12700">
            <a:solidFill>
              <a:srgbClr val="02C39A"/>
            </a:solidFill>
            <a:prstDash val="solid"/>
          </a:ln>
        </p:spPr>
      </p:sp>
      <p:sp>
        <p:nvSpPr>
          <p:cNvPr id="25" name="Text 23"/>
          <p:cNvSpPr/>
          <p:nvPr/>
        </p:nvSpPr>
        <p:spPr>
          <a:xfrm>
            <a:off x="4828032" y="2514600"/>
            <a:ext cx="960120" cy="246888"/>
          </a:xfrm>
          <a:prstGeom prst="rect">
            <a:avLst/>
          </a:prstGeom>
          <a:noFill/>
          <a:ln/>
        </p:spPr>
        <p:txBody>
          <a:bodyPr wrap="square" lIns="0" tIns="0" rIns="0" bIns="0" rtlCol="0" anchor="ctr"/>
          <a:lstStyle/>
          <a:p>
            <a:pPr algn="ctr" indent="0" marL="0">
              <a:buNone/>
            </a:pPr>
            <a:r>
              <a:rPr lang="en-US" sz="900" b="1" dirty="0">
                <a:solidFill>
                  <a:srgbClr val="FFFFFF"/>
                </a:solidFill>
              </a:rPr>
              <a:t>Customer</a:t>
            </a:r>
            <a:endParaRPr lang="en-US" sz="900" dirty="0"/>
          </a:p>
        </p:txBody>
      </p:sp>
      <p:sp>
        <p:nvSpPr>
          <p:cNvPr id="26" name="Text 24"/>
          <p:cNvSpPr/>
          <p:nvPr/>
        </p:nvSpPr>
        <p:spPr>
          <a:xfrm>
            <a:off x="4828032" y="2825496"/>
            <a:ext cx="393192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Prescription Upload</a:t>
            </a:r>
            <a:endParaRPr lang="en-US" sz="1300" dirty="0"/>
          </a:p>
        </p:txBody>
      </p:sp>
      <p:sp>
        <p:nvSpPr>
          <p:cNvPr id="27" name="Text 25"/>
          <p:cNvSpPr/>
          <p:nvPr/>
        </p:nvSpPr>
        <p:spPr>
          <a:xfrm>
            <a:off x="4828032" y="3136392"/>
            <a:ext cx="3931920"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Upload doctor's prescription image required for specific medicines.</a:t>
            </a:r>
            <a:endParaRPr lang="en-US" sz="1100" dirty="0"/>
          </a:p>
        </p:txBody>
      </p:sp>
      <p:sp>
        <p:nvSpPr>
          <p:cNvPr id="28" name="Shape 26"/>
          <p:cNvSpPr/>
          <p:nvPr/>
        </p:nvSpPr>
        <p:spPr>
          <a:xfrm>
            <a:off x="182880" y="3739896"/>
            <a:ext cx="4206240" cy="1115568"/>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182880" y="3739896"/>
            <a:ext cx="64008" cy="1115568"/>
          </a:xfrm>
          <a:prstGeom prst="rect">
            <a:avLst/>
          </a:prstGeom>
          <a:solidFill>
            <a:srgbClr val="028090"/>
          </a:solidFill>
          <a:ln w="12700">
            <a:solidFill>
              <a:srgbClr val="028090"/>
            </a:solidFill>
            <a:prstDash val="solid"/>
          </a:ln>
        </p:spPr>
      </p:sp>
      <p:sp>
        <p:nvSpPr>
          <p:cNvPr id="30" name="Shape 28"/>
          <p:cNvSpPr/>
          <p:nvPr/>
        </p:nvSpPr>
        <p:spPr>
          <a:xfrm>
            <a:off x="347472" y="3813048"/>
            <a:ext cx="960120" cy="246888"/>
          </a:xfrm>
          <a:prstGeom prst="rect">
            <a:avLst/>
          </a:prstGeom>
          <a:solidFill>
            <a:srgbClr val="028090"/>
          </a:solidFill>
          <a:ln w="12700">
            <a:solidFill>
              <a:srgbClr val="028090"/>
            </a:solidFill>
            <a:prstDash val="solid"/>
          </a:ln>
        </p:spPr>
      </p:sp>
      <p:sp>
        <p:nvSpPr>
          <p:cNvPr id="31" name="Text 29"/>
          <p:cNvSpPr/>
          <p:nvPr/>
        </p:nvSpPr>
        <p:spPr>
          <a:xfrm>
            <a:off x="347472" y="3813048"/>
            <a:ext cx="960120" cy="246888"/>
          </a:xfrm>
          <a:prstGeom prst="rect">
            <a:avLst/>
          </a:prstGeom>
          <a:noFill/>
          <a:ln/>
        </p:spPr>
        <p:txBody>
          <a:bodyPr wrap="square" lIns="0" tIns="0" rIns="0" bIns="0" rtlCol="0" anchor="ctr"/>
          <a:lstStyle/>
          <a:p>
            <a:pPr algn="ctr" indent="0" marL="0">
              <a:buNone/>
            </a:pPr>
            <a:r>
              <a:rPr lang="en-US" sz="900" b="1" dirty="0">
                <a:solidFill>
                  <a:srgbClr val="FFFFFF"/>
                </a:solidFill>
              </a:rPr>
              <a:t>Pharmacist</a:t>
            </a:r>
            <a:endParaRPr lang="en-US" sz="900" dirty="0"/>
          </a:p>
        </p:txBody>
      </p:sp>
      <p:sp>
        <p:nvSpPr>
          <p:cNvPr id="32" name="Text 30"/>
          <p:cNvSpPr/>
          <p:nvPr/>
        </p:nvSpPr>
        <p:spPr>
          <a:xfrm>
            <a:off x="347472" y="4123944"/>
            <a:ext cx="393192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Pharmacist Panel</a:t>
            </a:r>
            <a:endParaRPr lang="en-US" sz="1300" dirty="0"/>
          </a:p>
        </p:txBody>
      </p:sp>
      <p:sp>
        <p:nvSpPr>
          <p:cNvPr id="33" name="Text 31"/>
          <p:cNvSpPr/>
          <p:nvPr/>
        </p:nvSpPr>
        <p:spPr>
          <a:xfrm>
            <a:off x="347472" y="4434840"/>
            <a:ext cx="3931920"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View pending orders, verify prescriptions, update order status.</a:t>
            </a:r>
            <a:endParaRPr lang="en-US" sz="1100" dirty="0"/>
          </a:p>
        </p:txBody>
      </p:sp>
      <p:sp>
        <p:nvSpPr>
          <p:cNvPr id="34" name="Shape 32"/>
          <p:cNvSpPr/>
          <p:nvPr/>
        </p:nvSpPr>
        <p:spPr>
          <a:xfrm>
            <a:off x="4663440" y="3739896"/>
            <a:ext cx="4206240" cy="1115568"/>
          </a:xfrm>
          <a:prstGeom prst="rect">
            <a:avLst/>
          </a:prstGeom>
          <a:solidFill>
            <a:srgbClr val="FFFFFF"/>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4663440" y="3739896"/>
            <a:ext cx="64008" cy="1115568"/>
          </a:xfrm>
          <a:prstGeom prst="rect">
            <a:avLst/>
          </a:prstGeom>
          <a:solidFill>
            <a:srgbClr val="DC2626"/>
          </a:solidFill>
          <a:ln w="12700">
            <a:solidFill>
              <a:srgbClr val="DC2626"/>
            </a:solidFill>
            <a:prstDash val="solid"/>
          </a:ln>
        </p:spPr>
      </p:sp>
      <p:sp>
        <p:nvSpPr>
          <p:cNvPr id="36" name="Shape 34"/>
          <p:cNvSpPr/>
          <p:nvPr/>
        </p:nvSpPr>
        <p:spPr>
          <a:xfrm>
            <a:off x="4828032" y="3813048"/>
            <a:ext cx="960120" cy="246888"/>
          </a:xfrm>
          <a:prstGeom prst="rect">
            <a:avLst/>
          </a:prstGeom>
          <a:solidFill>
            <a:srgbClr val="DC2626"/>
          </a:solidFill>
          <a:ln w="12700">
            <a:solidFill>
              <a:srgbClr val="DC2626"/>
            </a:solidFill>
            <a:prstDash val="solid"/>
          </a:ln>
        </p:spPr>
      </p:sp>
      <p:sp>
        <p:nvSpPr>
          <p:cNvPr id="37" name="Text 35"/>
          <p:cNvSpPr/>
          <p:nvPr/>
        </p:nvSpPr>
        <p:spPr>
          <a:xfrm>
            <a:off x="4828032" y="3813048"/>
            <a:ext cx="960120" cy="246888"/>
          </a:xfrm>
          <a:prstGeom prst="rect">
            <a:avLst/>
          </a:prstGeom>
          <a:noFill/>
          <a:ln/>
        </p:spPr>
        <p:txBody>
          <a:bodyPr wrap="square" lIns="0" tIns="0" rIns="0" bIns="0" rtlCol="0" anchor="ctr"/>
          <a:lstStyle/>
          <a:p>
            <a:pPr algn="ctr" indent="0" marL="0">
              <a:buNone/>
            </a:pPr>
            <a:r>
              <a:rPr lang="en-US" sz="900" b="1" dirty="0">
                <a:solidFill>
                  <a:srgbClr val="FFFFFF"/>
                </a:solidFill>
              </a:rPr>
              <a:t>Admin</a:t>
            </a:r>
            <a:endParaRPr lang="en-US" sz="900" dirty="0"/>
          </a:p>
        </p:txBody>
      </p:sp>
      <p:sp>
        <p:nvSpPr>
          <p:cNvPr id="38" name="Text 36"/>
          <p:cNvSpPr/>
          <p:nvPr/>
        </p:nvSpPr>
        <p:spPr>
          <a:xfrm>
            <a:off x="4828032" y="4123944"/>
            <a:ext cx="3931920" cy="292608"/>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Admin Dashboard</a:t>
            </a:r>
            <a:endParaRPr lang="en-US" sz="1300" dirty="0"/>
          </a:p>
        </p:txBody>
      </p:sp>
      <p:sp>
        <p:nvSpPr>
          <p:cNvPr id="39" name="Text 37"/>
          <p:cNvSpPr/>
          <p:nvPr/>
        </p:nvSpPr>
        <p:spPr>
          <a:xfrm>
            <a:off x="4828032" y="4434840"/>
            <a:ext cx="3931920" cy="34747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Add/edit medicines, manage users, view all orders and generate reports.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1097280" y="2926080"/>
            <a:ext cx="4114800" cy="4114800"/>
          </a:xfrm>
          <a:prstGeom prst="ellipse">
            <a:avLst/>
          </a:prstGeom>
          <a:solidFill>
            <a:srgbClr val="FFFFFF">
              <a:alpha val="6000"/>
            </a:srgbClr>
          </a:solidFill>
          <a:ln w="12700">
            <a:solidFill>
              <a:srgbClr val="028090"/>
            </a:solidFill>
            <a:prstDash val="solid"/>
          </a:ln>
        </p:spPr>
      </p:sp>
      <p:sp>
        <p:nvSpPr>
          <p:cNvPr id="4" name="Text 2"/>
          <p:cNvSpPr/>
          <p:nvPr/>
        </p:nvSpPr>
        <p:spPr>
          <a:xfrm>
            <a:off x="548640" y="457200"/>
            <a:ext cx="77724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Conclusion &amp; Future Scope</a:t>
            </a:r>
            <a:endParaRPr lang="en-US" sz="3000" dirty="0"/>
          </a:p>
        </p:txBody>
      </p:sp>
      <p:sp>
        <p:nvSpPr>
          <p:cNvPr id="5" name="Shape 3"/>
          <p:cNvSpPr/>
          <p:nvPr/>
        </p:nvSpPr>
        <p:spPr>
          <a:xfrm>
            <a:off x="548640" y="1298448"/>
            <a:ext cx="5303520" cy="54864"/>
          </a:xfrm>
          <a:prstGeom prst="rect">
            <a:avLst/>
          </a:prstGeom>
          <a:solidFill>
            <a:srgbClr val="02C39A"/>
          </a:solidFill>
          <a:ln w="12700">
            <a:solidFill>
              <a:srgbClr val="02C39A"/>
            </a:solidFill>
            <a:prstDash val="solid"/>
          </a:ln>
        </p:spPr>
      </p:sp>
      <p:sp>
        <p:nvSpPr>
          <p:cNvPr id="6" name="Text 4"/>
          <p:cNvSpPr/>
          <p:nvPr/>
        </p:nvSpPr>
        <p:spPr>
          <a:xfrm>
            <a:off x="548640" y="1417320"/>
            <a:ext cx="5029200" cy="347472"/>
          </a:xfrm>
          <a:prstGeom prst="rect">
            <a:avLst/>
          </a:prstGeom>
          <a:noFill/>
          <a:ln/>
        </p:spPr>
        <p:txBody>
          <a:bodyPr wrap="square" rtlCol="0" anchor="ctr"/>
          <a:lstStyle/>
          <a:p>
            <a:pPr indent="0" marL="0">
              <a:buNone/>
            </a:pPr>
            <a:r>
              <a:rPr lang="en-US" sz="1400" b="1" dirty="0">
                <a:solidFill>
                  <a:srgbClr val="02C39A"/>
                </a:solidFill>
              </a:rPr>
              <a:t>Conclusion</a:t>
            </a:r>
            <a:endParaRPr lang="en-US" sz="1400" dirty="0"/>
          </a:p>
        </p:txBody>
      </p:sp>
      <p:sp>
        <p:nvSpPr>
          <p:cNvPr id="7" name="Text 5"/>
          <p:cNvSpPr/>
          <p:nvPr/>
        </p:nvSpPr>
        <p:spPr>
          <a:xfrm>
            <a:off x="548640" y="1828800"/>
            <a:ext cx="5120640" cy="1417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E-Pharmacy Portal successfully digitizes the medicine ordering process. Customers can search medicines, place pickup orders and upload prescriptions online. Pharmacists can verify prescriptions and manage orders efficiently. The Admin has full control over the system through a centralized dashboard — making the overall pharmacy workflow faster, accurate and paperless.</a:t>
            </a:r>
            <a:endParaRPr lang="en-US" sz="1200" dirty="0"/>
          </a:p>
        </p:txBody>
      </p:sp>
      <p:sp>
        <p:nvSpPr>
          <p:cNvPr id="8" name="Text 6"/>
          <p:cNvSpPr/>
          <p:nvPr/>
        </p:nvSpPr>
        <p:spPr>
          <a:xfrm>
            <a:off x="548640" y="3310128"/>
            <a:ext cx="5029200" cy="347472"/>
          </a:xfrm>
          <a:prstGeom prst="rect">
            <a:avLst/>
          </a:prstGeom>
          <a:noFill/>
          <a:ln/>
        </p:spPr>
        <p:txBody>
          <a:bodyPr wrap="square" rtlCol="0" anchor="ctr"/>
          <a:lstStyle/>
          <a:p>
            <a:pPr indent="0" marL="0">
              <a:buNone/>
            </a:pPr>
            <a:r>
              <a:rPr lang="en-US" sz="1400" b="1" dirty="0">
                <a:solidFill>
                  <a:srgbClr val="02C39A"/>
                </a:solidFill>
              </a:rPr>
              <a:t>Future Scope</a:t>
            </a:r>
            <a:endParaRPr lang="en-US" sz="1400" dirty="0"/>
          </a:p>
        </p:txBody>
      </p:sp>
      <p:sp>
        <p:nvSpPr>
          <p:cNvPr id="9" name="Text 7"/>
          <p:cNvSpPr/>
          <p:nvPr/>
        </p:nvSpPr>
        <p:spPr>
          <a:xfrm>
            <a:off x="548640" y="3703320"/>
            <a:ext cx="5029200" cy="11887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Home delivery integration in future phases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Mobile app (Android &amp; iOS)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Real-time stock &amp; inventory management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AI-based medicine recommendation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SMS/Email notification system</a:t>
            </a:r>
            <a:endParaRPr lang="en-US" sz="1200" dirty="0"/>
          </a:p>
        </p:txBody>
      </p:sp>
      <p:sp>
        <p:nvSpPr>
          <p:cNvPr id="10" name="Shape 8"/>
          <p:cNvSpPr/>
          <p:nvPr/>
        </p:nvSpPr>
        <p:spPr>
          <a:xfrm>
            <a:off x="6263640" y="1188720"/>
            <a:ext cx="2651760" cy="3566160"/>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6263640" y="1371600"/>
            <a:ext cx="2651760" cy="1188720"/>
          </a:xfrm>
          <a:prstGeom prst="rect">
            <a:avLst/>
          </a:prstGeom>
          <a:noFill/>
          <a:ln/>
        </p:spPr>
        <p:txBody>
          <a:bodyPr wrap="square" rtlCol="0" anchor="ctr"/>
          <a:lstStyle/>
          <a:p>
            <a:pPr algn="ctr" indent="0" marL="0">
              <a:buNone/>
            </a:pPr>
            <a:r>
              <a:rPr lang="en-US" sz="3600" b="1" dirty="0">
                <a:solidFill>
                  <a:srgbClr val="FFFFFF"/>
                </a:solidFill>
              </a:rPr>
              <a:t>Thank</a:t>
            </a:r>
            <a:endParaRPr lang="en-US" sz="3600" dirty="0"/>
          </a:p>
          <a:p>
            <a:pPr algn="ctr" indent="0" marL="0">
              <a:buNone/>
            </a:pPr>
            <a:r>
              <a:rPr lang="en-US" sz="3600" b="1" dirty="0">
                <a:solidFill>
                  <a:srgbClr val="FFFFFF"/>
                </a:solidFill>
              </a:rPr>
              <a:t>You!</a:t>
            </a:r>
            <a:endParaRPr lang="en-US" sz="3600" dirty="0"/>
          </a:p>
        </p:txBody>
      </p:sp>
      <p:sp>
        <p:nvSpPr>
          <p:cNvPr id="12" name="Text 10"/>
          <p:cNvSpPr/>
          <p:nvPr/>
        </p:nvSpPr>
        <p:spPr>
          <a:xfrm>
            <a:off x="6263640" y="2788920"/>
            <a:ext cx="2651760" cy="192024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Kamar Raza</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24CEBMC608</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MCA — 4th Semester</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Engineering College</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of Bikaner</a:t>
            </a:r>
            <a:endParaRPr lang="en-US" sz="1200" dirty="0"/>
          </a:p>
        </p:txBody>
      </p:sp>
      <p:sp>
        <p:nvSpPr>
          <p:cNvPr id="13" name="Shape 11"/>
          <p:cNvSpPr/>
          <p:nvPr/>
        </p:nvSpPr>
        <p:spPr>
          <a:xfrm>
            <a:off x="0" y="4910328"/>
            <a:ext cx="9144000" cy="233172"/>
          </a:xfrm>
          <a:prstGeom prst="rect">
            <a:avLst/>
          </a:prstGeom>
          <a:solidFill>
            <a:srgbClr val="000000">
              <a:alpha val="60000"/>
            </a:srgbClr>
          </a:solidFill>
          <a:ln w="12700">
            <a:solidFill>
              <a:srgbClr val="000000"/>
            </a:solidFill>
            <a:prstDash val="solid"/>
          </a:ln>
        </p:spPr>
      </p:sp>
      <p:sp>
        <p:nvSpPr>
          <p:cNvPr id="14" name="Text 12"/>
          <p:cNvSpPr/>
          <p:nvPr/>
        </p:nvSpPr>
        <p:spPr>
          <a:xfrm>
            <a:off x="0" y="4910328"/>
            <a:ext cx="9144000" cy="233172"/>
          </a:xfrm>
          <a:prstGeom prst="rect">
            <a:avLst/>
          </a:prstGeom>
          <a:noFill/>
          <a:ln/>
        </p:spPr>
        <p:txBody>
          <a:bodyPr wrap="square" lIns="0" tIns="0" rIns="0" bIns="0" rtlCol="0" anchor="ctr"/>
          <a:lstStyle/>
          <a:p>
            <a:pPr algn="ctr" indent="0" marL="0">
              <a:buNone/>
            </a:pPr>
            <a:r>
              <a:rPr lang="en-US" sz="1000" dirty="0">
                <a:solidFill>
                  <a:srgbClr val="FFFFFF"/>
                </a:solidFill>
              </a:rPr>
              <a:t>E-Pharmacy Portal  |  MCA Project 2024-25  |  Engineering College of Bikaner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E-Pharmacy Portal</dc:title>
  <dc:subject>PptxGenJS Presentation</dc:subject>
  <dc:creator>Kamar Raza</dc:creator>
  <cp:lastModifiedBy>Kamar Raza</cp:lastModifiedBy>
  <cp:revision>1</cp:revision>
  <dcterms:created xsi:type="dcterms:W3CDTF">2026-05-15T17:47:12Z</dcterms:created>
  <dcterms:modified xsi:type="dcterms:W3CDTF">2026-05-15T17:47:12Z</dcterms:modified>
</cp:coreProperties>
</file>